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279" r:id="rId2"/>
    <p:sldId id="278" r:id="rId3"/>
    <p:sldId id="257" r:id="rId4"/>
    <p:sldId id="273" r:id="rId5"/>
    <p:sldId id="258" r:id="rId6"/>
    <p:sldId id="259" r:id="rId7"/>
    <p:sldId id="260" r:id="rId8"/>
    <p:sldId id="263" r:id="rId9"/>
    <p:sldId id="262" r:id="rId10"/>
    <p:sldId id="284" r:id="rId11"/>
    <p:sldId id="261" r:id="rId12"/>
    <p:sldId id="280" r:id="rId13"/>
    <p:sldId id="264" r:id="rId14"/>
    <p:sldId id="265" r:id="rId15"/>
    <p:sldId id="267" r:id="rId16"/>
    <p:sldId id="274" r:id="rId17"/>
    <p:sldId id="275" r:id="rId18"/>
    <p:sldId id="269" r:id="rId19"/>
    <p:sldId id="285" r:id="rId20"/>
    <p:sldId id="281" r:id="rId21"/>
  </p:sldIdLst>
  <p:sldSz cx="18288000" cy="10287000"/>
  <p:notesSz cx="6858000" cy="9144000"/>
  <p:embeddedFontLst>
    <p:embeddedFont>
      <p:font typeface="HY견고딕" panose="02030600000101010101" pitchFamily="18" charset="-127"/>
      <p:regular r:id="rId23"/>
    </p:embeddedFont>
    <p:embeddedFont>
      <p:font typeface="Pretendard Black" panose="020B0600000101010101" charset="-127"/>
      <p:bold r:id="rId24"/>
    </p:embeddedFont>
    <p:embeddedFont>
      <p:font typeface="Pretendard Light" panose="020B0600000101010101" charset="-127"/>
      <p:regular r:id="rId25"/>
    </p:embeddedFont>
    <p:embeddedFont>
      <p:font typeface="Pretendard Regular" panose="020B0600000101010101" charset="-127"/>
      <p:regular r:id="rId26"/>
    </p:embeddedFont>
    <p:embeddedFont>
      <p:font typeface="Pretendard SemiBold" panose="020B0600000101010101" charset="-127"/>
      <p:bold r:id="rId27"/>
    </p:embeddedFont>
    <p:embeddedFont>
      <p:font typeface="맑은 고딕" panose="020B0503020000020004" pitchFamily="50" charset="-127"/>
      <p:regular r:id="rId28"/>
      <p:bold r:id="rId29"/>
    </p:embeddedFont>
    <p:embeddedFont>
      <p:font typeface="한국기계연구원_Bold" panose="02000300000000000000" pitchFamily="2" charset="-127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C3DC"/>
    <a:srgbClr val="7E9BC8"/>
    <a:srgbClr val="3C6494"/>
    <a:srgbClr val="8F96BB"/>
    <a:srgbClr val="AABAD7"/>
    <a:srgbClr val="4F81BD"/>
    <a:srgbClr val="40699C"/>
    <a:srgbClr val="FF6600"/>
    <a:srgbClr val="9BBB59"/>
    <a:srgbClr val="8AAC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43" autoAdjust="0"/>
    <p:restoredTop sz="91181" autoAdjust="0"/>
  </p:normalViewPr>
  <p:slideViewPr>
    <p:cSldViewPr>
      <p:cViewPr>
        <p:scale>
          <a:sx n="30" d="100"/>
          <a:sy n="30" d="100"/>
        </p:scale>
        <p:origin x="1776" y="81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A19-4F11-9606-DC404D17B347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77-4732-B4B5-01EB5B1FB886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77-4732-B4B5-01EB5B1FB886}"/>
              </c:ext>
            </c:extLst>
          </c:dPt>
          <c:cat>
            <c:strRef>
              <c:f>Sheet1!$A$2:$A$4</c:f>
              <c:strCache>
                <c:ptCount val="3"/>
                <c:pt idx="0">
                  <c:v>절반</c:v>
                </c:pt>
                <c:pt idx="1">
                  <c:v>정면</c:v>
                </c:pt>
                <c:pt idx="2">
                  <c:v>측면</c:v>
                </c:pt>
              </c:strCache>
              <c:extLst/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4500</c:v>
                </c:pt>
                <c:pt idx="1">
                  <c:v>2400</c:v>
                </c:pt>
                <c:pt idx="2">
                  <c:v>1500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9A19-4F11-9606-DC404D17B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절반 얼굴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탐지 정확도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0-49D5-A379-11B672320B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정면 얼굴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탐지 정확도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B0-49D5-A379-11B672320B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측면 얼굴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탐지 정확도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B0-49D5-A379-11B672320B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8975167"/>
        <c:axId val="728999647"/>
      </c:barChart>
      <c:catAx>
        <c:axId val="728975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999647"/>
        <c:crosses val="autoZero"/>
        <c:auto val="1"/>
        <c:lblAlgn val="ctr"/>
        <c:lblOffset val="100"/>
        <c:noMultiLvlLbl val="0"/>
      </c:catAx>
      <c:valAx>
        <c:axId val="728999647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975167"/>
        <c:crosses val="autoZero"/>
        <c:crossBetween val="between"/>
        <c:majorUnit val="20"/>
        <c:minorUnit val="4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23106-05CD-4585-A955-27D95707A083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99DE5-3B2E-49A3-AE1B-0D7E1626F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366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99DE5-3B2E-49A3-AE1B-0D7E1626FD6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050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D99DE5-3B2E-49A3-AE1B-0D7E1626FD6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392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D99DE5-3B2E-49A3-AE1B-0D7E1626FD6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957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787878"/>
                </a:solidFill>
                <a:ea typeface="Pretendard Regular"/>
              </a:rPr>
              <a:t>(176/200)</a:t>
            </a:r>
            <a:endParaRPr lang="ko-KR" altLang="en-US" sz="1200" dirty="0">
              <a:solidFill>
                <a:srgbClr val="787878"/>
              </a:solidFill>
              <a:ea typeface="Pretendard Regular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D99DE5-3B2E-49A3-AE1B-0D7E1626FD6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708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내가 수정함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D99DE5-3B2E-49A3-AE1B-0D7E1626FD6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814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jp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microsoft.com/office/2007/relationships/hdphoto" Target="../media/hdphoto3.wdp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on.kisti.re.kr/srch/selectPORSrchArticle.do?cn=NPAP13263738" TargetMode="External"/><Relationship Id="rId2" Type="http://schemas.openxmlformats.org/officeDocument/2006/relationships/hyperlink" Target="https://www.dbpia.co.kr/journal/articleDetail?nodeId=NODE12149525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rapa.or.kr/ft/rb/bd03/view.do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2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1511300"/>
            <a:ext cx="2946400" cy="101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973300" y="8204200"/>
            <a:ext cx="18923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00" b="0" i="0" u="none" strike="noStrike">
                <a:solidFill>
                  <a:srgbClr val="FFFFFF"/>
                </a:solidFill>
                <a:latin typeface="Pretendard SemiBold"/>
              </a:rPr>
              <a:t>BlurGuard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73300" y="8737600"/>
            <a:ext cx="42037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팀장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 | 2324017 </a:t>
            </a:r>
            <a:r>
              <a:rPr lang="ko-KR" sz="2400" b="0" i="0" u="none" strike="noStrike" dirty="0" err="1">
                <a:solidFill>
                  <a:srgbClr val="FFFFFF"/>
                </a:solidFill>
                <a:ea typeface="Pretendard Regular"/>
              </a:rPr>
              <a:t>김하민</a:t>
            </a:r>
            <a:endParaRPr lang="ko-KR" sz="2400" b="0" i="0" u="none" strike="noStrike" dirty="0">
              <a:solidFill>
                <a:srgbClr val="FFFFFF"/>
              </a:solidFill>
              <a:ea typeface="Pretendard Regular"/>
            </a:endParaRPr>
          </a:p>
          <a:p>
            <a:pPr lvl="0" algn="l">
              <a:lnSpc>
                <a:spcPct val="124499"/>
              </a:lnSpc>
            </a:pP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팀원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 | 2324047 </a:t>
            </a: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이소빈</a:t>
            </a:r>
          </a:p>
          <a:p>
            <a:pPr lvl="0" algn="l">
              <a:lnSpc>
                <a:spcPct val="124499"/>
              </a:lnSpc>
            </a:pP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팀원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 | 2124073 </a:t>
            </a: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최정환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4762500"/>
            <a:ext cx="133350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500" b="0" i="0" u="none" strike="noStrike" dirty="0">
                <a:solidFill>
                  <a:srgbClr val="F6F6F6"/>
                </a:solidFill>
                <a:latin typeface="Pretendard Black"/>
              </a:rPr>
              <a:t>AI </a:t>
            </a:r>
            <a:r>
              <a:rPr lang="ko-KR" sz="5500" b="0" i="0" u="none" strike="noStrike" dirty="0">
                <a:solidFill>
                  <a:srgbClr val="F6F6F6"/>
                </a:solidFill>
                <a:ea typeface="Pretendard Black"/>
              </a:rPr>
              <a:t>기반</a:t>
            </a:r>
            <a:r>
              <a:rPr lang="en-US" sz="5500" b="0" i="0" u="none" strike="noStrike" dirty="0">
                <a:solidFill>
                  <a:srgbClr val="F6F6F6"/>
                </a:solidFill>
                <a:latin typeface="Pretendard Black"/>
              </a:rPr>
              <a:t> </a:t>
            </a:r>
            <a:r>
              <a:rPr lang="ko-KR" altLang="en-US" sz="5500" dirty="0">
                <a:solidFill>
                  <a:srgbClr val="F6F6F6"/>
                </a:solidFill>
                <a:latin typeface="Pretendard Black"/>
                <a:ea typeface="Pretendard Black"/>
              </a:rPr>
              <a:t>미디어</a:t>
            </a:r>
            <a:r>
              <a:rPr lang="en-US" sz="5500" b="0" i="0" u="none" strike="noStrike" dirty="0">
                <a:solidFill>
                  <a:srgbClr val="F6F6F6"/>
                </a:solidFill>
                <a:latin typeface="Pretendard Black"/>
              </a:rPr>
              <a:t> </a:t>
            </a:r>
            <a:r>
              <a:rPr lang="ko-KR" sz="5500" b="0" i="0" u="none" strike="noStrike" dirty="0">
                <a:solidFill>
                  <a:srgbClr val="F6F6F6"/>
                </a:solidFill>
                <a:ea typeface="Pretendard Black"/>
              </a:rPr>
              <a:t>프라이버시</a:t>
            </a:r>
            <a:r>
              <a:rPr lang="en-US" sz="5500" b="0" i="0" u="none" strike="noStrike" dirty="0">
                <a:solidFill>
                  <a:srgbClr val="F6F6F6"/>
                </a:solidFill>
                <a:latin typeface="Pretendard Black"/>
              </a:rPr>
              <a:t> </a:t>
            </a:r>
            <a:r>
              <a:rPr lang="ko-KR" sz="5500" b="0" i="0" u="none" strike="noStrike" dirty="0">
                <a:solidFill>
                  <a:srgbClr val="F6F6F6"/>
                </a:solidFill>
                <a:ea typeface="Pretendard Black"/>
              </a:rPr>
              <a:t>모자이</a:t>
            </a:r>
            <a:r>
              <a:rPr lang="ko-KR" altLang="en-US" sz="5500" b="0" i="0" u="none" strike="noStrike" dirty="0">
                <a:solidFill>
                  <a:srgbClr val="F6F6F6"/>
                </a:solidFill>
                <a:ea typeface="Pretendard Black"/>
              </a:rPr>
              <a:t>크 웹 </a:t>
            </a:r>
            <a:r>
              <a:rPr lang="ko-KR" sz="5500" b="0" i="0" u="none" strike="noStrike" dirty="0">
                <a:solidFill>
                  <a:srgbClr val="F6F6F6"/>
                </a:solidFill>
                <a:ea typeface="Pretendard Black"/>
              </a:rPr>
              <a:t>서비스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8400" y="3263900"/>
            <a:ext cx="4470400" cy="171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600" b="0" i="0" u="none" strike="noStrike" err="1">
                <a:solidFill>
                  <a:srgbClr val="F6F6F6"/>
                </a:solidFill>
                <a:latin typeface="Pretendard Black"/>
              </a:rPr>
              <a:t>Mozik</a:t>
            </a:r>
            <a:r>
              <a:rPr lang="en-US" sz="9600" b="0" i="0" u="none" strike="noStrike">
                <a:solidFill>
                  <a:srgbClr val="F6F6F6"/>
                </a:solidFill>
                <a:latin typeface="Pretendard Black"/>
              </a:rPr>
              <a:t>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8400" y="1028700"/>
            <a:ext cx="3568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Regular"/>
              </a:rPr>
              <a:t>2025</a:t>
            </a:r>
            <a:r>
              <a:rPr lang="ko-KR" sz="2000" b="0" i="0" u="none" strike="noStrike">
                <a:solidFill>
                  <a:srgbClr val="FFFFFF"/>
                </a:solidFill>
                <a:ea typeface="Pretendard Regular"/>
              </a:rPr>
              <a:t>년</a:t>
            </a:r>
            <a:r>
              <a:rPr lang="en-US" sz="2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Pretendard Regular"/>
              </a:rPr>
              <a:t>추계</a:t>
            </a:r>
            <a:r>
              <a:rPr lang="en-US" sz="2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Pretendard Regular"/>
              </a:rPr>
              <a:t>졸업작품발표회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8600" y="9652000"/>
            <a:ext cx="4203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sz="2400" b="1" i="0" u="none" strike="noStrike">
                <a:solidFill>
                  <a:srgbClr val="FFFFFF"/>
                </a:solidFill>
                <a:ea typeface="Pretendard Regular"/>
              </a:rPr>
              <a:t>지도교수</a:t>
            </a:r>
            <a:r>
              <a:rPr lang="en-US" sz="2400" b="1" i="0" u="none" strike="noStrike">
                <a:solidFill>
                  <a:srgbClr val="FFFFFF"/>
                </a:solidFill>
                <a:latin typeface="Pretendard Regular"/>
              </a:rPr>
              <a:t> : </a:t>
            </a:r>
            <a:r>
              <a:rPr lang="ko-KR" sz="2400" b="1" i="0" u="none" strike="noStrike">
                <a:solidFill>
                  <a:srgbClr val="FFFFFF"/>
                </a:solidFill>
                <a:ea typeface="Pretendard Regular"/>
              </a:rPr>
              <a:t>민준식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838200" y="3187700"/>
            <a:ext cx="1371600" cy="1371600"/>
            <a:chOff x="5124450" y="4076700"/>
            <a:chExt cx="3429000" cy="3429000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1" t="6907" r="5158" b="5008"/>
            <a:stretch/>
          </p:blipFill>
          <p:spPr>
            <a:xfrm>
              <a:off x="5124450" y="4076700"/>
              <a:ext cx="3429000" cy="3429000"/>
            </a:xfrm>
            <a:prstGeom prst="roundRect">
              <a:avLst/>
            </a:prstGeom>
          </p:spPr>
        </p:pic>
        <p:sp>
          <p:nvSpPr>
            <p:cNvPr id="5" name="모서리가 둥근 직사각형 4"/>
            <p:cNvSpPr/>
            <p:nvPr/>
          </p:nvSpPr>
          <p:spPr>
            <a:xfrm>
              <a:off x="5143501" y="4098924"/>
              <a:ext cx="3409949" cy="3406776"/>
            </a:xfrm>
            <a:prstGeom prst="roundRect">
              <a:avLst/>
            </a:prstGeom>
            <a:noFill/>
            <a:ln w="76200">
              <a:solidFill>
                <a:srgbClr val="4A52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2230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747274"/>
            <a:ext cx="18288001" cy="7086600"/>
          </a:xfrm>
          <a:prstGeom prst="rect">
            <a:avLst/>
          </a:prstGeom>
          <a:solidFill>
            <a:srgbClr val="DEE0EA"/>
          </a:solidFill>
          <a:ln>
            <a:solidFill>
              <a:srgbClr val="DEE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데이터 11"/>
          <p:cNvSpPr/>
          <p:nvPr/>
        </p:nvSpPr>
        <p:spPr>
          <a:xfrm flipH="1">
            <a:off x="228600" y="1548759"/>
            <a:ext cx="6045200" cy="7483987"/>
          </a:xfrm>
          <a:prstGeom prst="flowChartInputOutput">
            <a:avLst/>
          </a:prstGeom>
          <a:solidFill>
            <a:srgbClr val="4A527B"/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074203" y="3375629"/>
            <a:ext cx="131064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개</a:t>
            </a:r>
            <a:r>
              <a:rPr lang="ko-KR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인의</a:t>
            </a:r>
            <a:r>
              <a:rPr lang="en-US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프라이버시를</a:t>
            </a:r>
            <a:r>
              <a:rPr lang="en-US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지켜주는</a:t>
            </a:r>
            <a:r>
              <a:rPr lang="en-US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모자이크</a:t>
            </a:r>
            <a:r>
              <a:rPr lang="en-US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미디어 편집 서비스</a:t>
            </a:r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lang="en-US" sz="36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508000" y="431800"/>
            <a:ext cx="33147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작품 개요</a:t>
            </a:r>
            <a:endParaRPr lang="en-US" sz="55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Pretendard Black" panose="020B0600000101010101" charset="-127"/>
              <a:ea typeface="Pretendard Black" panose="020B0600000101010101" charset="-127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7074203" y="5523739"/>
            <a:ext cx="11228294" cy="83670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개인정보</a:t>
            </a:r>
            <a:r>
              <a:rPr lang="en-US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모자이크</a:t>
            </a:r>
            <a:r>
              <a:rPr lang="en-US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sz="3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처리</a:t>
            </a:r>
          </a:p>
        </p:txBody>
      </p:sp>
      <p:sp>
        <p:nvSpPr>
          <p:cNvPr id="9" name="TextBox 5"/>
          <p:cNvSpPr txBox="1"/>
          <p:nvPr/>
        </p:nvSpPr>
        <p:spPr>
          <a:xfrm>
            <a:off x="7074203" y="7587349"/>
            <a:ext cx="131064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OpenCV, YOLOv5, </a:t>
            </a:r>
            <a:r>
              <a:rPr lang="en-US" sz="32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PyTorch</a:t>
            </a:r>
            <a:r>
              <a:rPr lang="en-US" sz="32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en-US" sz="32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ArcFace</a:t>
            </a:r>
            <a:endParaRPr lang="en-US" sz="32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6" name="순서도: 수행의 시작/종료 5"/>
          <p:cNvSpPr/>
          <p:nvPr/>
        </p:nvSpPr>
        <p:spPr>
          <a:xfrm>
            <a:off x="6831106" y="2428563"/>
            <a:ext cx="2209800" cy="809932"/>
          </a:xfrm>
          <a:prstGeom prst="flowChartTerminator">
            <a:avLst/>
          </a:prstGeom>
          <a:solidFill>
            <a:srgbClr val="4A527B"/>
          </a:solidFill>
          <a:ln>
            <a:solidFill>
              <a:srgbClr val="8F9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작품 개요 </a:t>
            </a:r>
          </a:p>
        </p:txBody>
      </p:sp>
      <p:sp>
        <p:nvSpPr>
          <p:cNvPr id="13" name="순서도: 수행의 시작/종료 12"/>
          <p:cNvSpPr/>
          <p:nvPr/>
        </p:nvSpPr>
        <p:spPr>
          <a:xfrm>
            <a:off x="6831106" y="4576420"/>
            <a:ext cx="2209800" cy="809932"/>
          </a:xfrm>
          <a:prstGeom prst="flowChartTerminator">
            <a:avLst/>
          </a:prstGeom>
          <a:solidFill>
            <a:srgbClr val="4A527B"/>
          </a:solidFill>
          <a:ln>
            <a:solidFill>
              <a:srgbClr val="8F9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주요 기능</a:t>
            </a:r>
          </a:p>
        </p:txBody>
      </p:sp>
      <p:sp>
        <p:nvSpPr>
          <p:cNvPr id="14" name="순서도: 수행의 시작/종료 13"/>
          <p:cNvSpPr/>
          <p:nvPr/>
        </p:nvSpPr>
        <p:spPr>
          <a:xfrm>
            <a:off x="6831106" y="6606615"/>
            <a:ext cx="2209800" cy="809932"/>
          </a:xfrm>
          <a:prstGeom prst="flowChartTerminator">
            <a:avLst/>
          </a:prstGeom>
          <a:solidFill>
            <a:srgbClr val="4A527B"/>
          </a:solidFill>
          <a:ln>
            <a:solidFill>
              <a:srgbClr val="8F9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구현 기술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3092" y="1728225"/>
            <a:ext cx="5642908" cy="7105650"/>
          </a:xfrm>
          <a:prstGeom prst="parallelogram">
            <a:avLst>
              <a:gd name="adj" fmla="val 21469"/>
            </a:avLst>
          </a:prstGeom>
        </p:spPr>
      </p:pic>
      <p:sp>
        <p:nvSpPr>
          <p:cNvPr id="4" name="순서도: 데이터 3"/>
          <p:cNvSpPr/>
          <p:nvPr/>
        </p:nvSpPr>
        <p:spPr>
          <a:xfrm flipH="1">
            <a:off x="228600" y="1548759"/>
            <a:ext cx="6045200" cy="7483987"/>
          </a:xfrm>
          <a:prstGeom prst="flowChartInputOutput">
            <a:avLst/>
          </a:prstGeom>
          <a:solidFill>
            <a:srgbClr val="4A527B">
              <a:alpha val="59000"/>
            </a:srgbClr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26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000" y="431800"/>
            <a:ext cx="33147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/>
              </a:rPr>
              <a:t>Contents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2692400"/>
            <a:ext cx="3454400" cy="381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5"/>
          <p:cNvSpPr txBox="1"/>
          <p:nvPr/>
        </p:nvSpPr>
        <p:spPr>
          <a:xfrm>
            <a:off x="8623300" y="2819400"/>
            <a:ext cx="11811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ea typeface="Pretendard Black"/>
              </a:rPr>
              <a:t>개요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06000" y="876300"/>
            <a:ext cx="23114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17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/>
              </a:rPr>
              <a:t>01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8623300" y="4102100"/>
            <a:ext cx="3517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프로젝트</a:t>
            </a:r>
            <a:r>
              <a:rPr 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/>
              </a:rPr>
              <a:t> </a:t>
            </a:r>
            <a:r>
              <a:rPr 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목표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23300" y="3746500"/>
            <a:ext cx="3517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프로젝트</a:t>
            </a:r>
            <a:r>
              <a:rPr 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/>
              </a:rPr>
              <a:t> </a:t>
            </a:r>
            <a:r>
              <a:rPr 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배경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9300" y="2692400"/>
            <a:ext cx="3454400" cy="381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12" name="TextBox 12"/>
          <p:cNvSpPr txBox="1"/>
          <p:nvPr/>
        </p:nvSpPr>
        <p:spPr>
          <a:xfrm>
            <a:off x="13449300" y="2806700"/>
            <a:ext cx="30988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 Black"/>
              </a:rPr>
              <a:t>Mozik</a:t>
            </a:r>
            <a:r>
              <a:rPr lang="en-US" sz="4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/>
              </a:rPr>
              <a:t> </a:t>
            </a:r>
            <a:r>
              <a:rPr lang="ko-KR" sz="4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Black"/>
              </a:rPr>
              <a:t>소개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44700" y="850900"/>
            <a:ext cx="23114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17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/>
              </a:rPr>
              <a:t>02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5" name="TextBox 15"/>
          <p:cNvSpPr txBox="1"/>
          <p:nvPr/>
        </p:nvSpPr>
        <p:spPr>
          <a:xfrm>
            <a:off x="13449300" y="4089400"/>
            <a:ext cx="3517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 유사 서비스 분석 </a:t>
            </a:r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/ </a:t>
            </a:r>
            <a:r>
              <a:rPr lang="ko-KR" alt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차별점</a:t>
            </a:r>
            <a:endParaRPr lang="ko-KR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a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449300" y="3733800"/>
            <a:ext cx="3517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alt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프로젝트 특징</a:t>
            </a:r>
            <a:endParaRPr lang="ko-KR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a typeface="Pretendard Ligh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449300" y="4432300"/>
            <a:ext cx="3517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endParaRPr lang="ko-KR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a typeface="Pretendard Light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4062" y="7546340"/>
            <a:ext cx="3454400" cy="381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2" name="TextBox 22"/>
          <p:cNvSpPr txBox="1"/>
          <p:nvPr/>
        </p:nvSpPr>
        <p:spPr>
          <a:xfrm>
            <a:off x="13449300" y="9055100"/>
            <a:ext cx="3517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참고</a:t>
            </a:r>
            <a:r>
              <a:rPr 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/>
              </a:rPr>
              <a:t> </a:t>
            </a:r>
            <a:r>
              <a:rPr 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문헌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49300" y="8636000"/>
            <a:ext cx="3517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질의응답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49300" y="7708900"/>
            <a:ext cx="14732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/>
              </a:rPr>
              <a:t>Q&amp;A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05000" y="5702300"/>
            <a:ext cx="24384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17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/>
              </a:rPr>
              <a:t>05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9" name="TextBox 29"/>
          <p:cNvSpPr txBox="1"/>
          <p:nvPr/>
        </p:nvSpPr>
        <p:spPr>
          <a:xfrm>
            <a:off x="7975600" y="8636000"/>
            <a:ext cx="3517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작품 시연</a:t>
            </a:r>
            <a:endParaRPr lang="ko-KR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a typeface="Pretendard Ligh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975600" y="9055100"/>
            <a:ext cx="3517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향후 과제</a:t>
            </a:r>
            <a:endParaRPr lang="ko-KR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a typeface="Pretendard Light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975600" y="7708900"/>
            <a:ext cx="42037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Black"/>
              </a:rPr>
              <a:t>시연 및 향후 과제</a:t>
            </a:r>
            <a:endParaRPr lang="ko-KR" sz="48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a typeface="Pretendard Black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753600" y="5702300"/>
            <a:ext cx="24384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17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/>
              </a:rPr>
              <a:t>04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7569200"/>
            <a:ext cx="3454400" cy="381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35" name="TextBox 35"/>
          <p:cNvSpPr txBox="1"/>
          <p:nvPr/>
        </p:nvSpPr>
        <p:spPr>
          <a:xfrm>
            <a:off x="3009900" y="9055100"/>
            <a:ext cx="2120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역할</a:t>
            </a:r>
            <a:r>
              <a:rPr 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/>
              </a:rPr>
              <a:t> </a:t>
            </a:r>
            <a:r>
              <a:rPr 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분담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22600" y="7708900"/>
            <a:ext cx="34163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Black"/>
              </a:rPr>
              <a:t>프로젝트</a:t>
            </a:r>
            <a:r>
              <a:rPr lang="en-US" sz="4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/>
              </a:rPr>
              <a:t> </a:t>
            </a:r>
            <a:r>
              <a:rPr lang="ko-KR" sz="4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Black"/>
              </a:rPr>
              <a:t>추진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78300" y="5702300"/>
            <a:ext cx="24257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17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/>
              </a:rPr>
              <a:t>03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09900" y="9525000"/>
            <a:ext cx="2120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추진</a:t>
            </a:r>
            <a:r>
              <a:rPr 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/>
              </a:rPr>
              <a:t> </a:t>
            </a:r>
            <a:r>
              <a:rPr 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일정</a:t>
            </a:r>
          </a:p>
        </p:txBody>
      </p:sp>
      <p:sp>
        <p:nvSpPr>
          <p:cNvPr id="39" name="TextBox 18"/>
          <p:cNvSpPr txBox="1"/>
          <p:nvPr/>
        </p:nvSpPr>
        <p:spPr>
          <a:xfrm>
            <a:off x="13449300" y="4483100"/>
            <a:ext cx="3517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모자이크 처리 과정</a:t>
            </a:r>
            <a:endParaRPr lang="ko-KR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a typeface="Pretendard Light"/>
            </a:endParaRPr>
          </a:p>
        </p:txBody>
      </p:sp>
      <p:pic>
        <p:nvPicPr>
          <p:cNvPr id="42" name="Picture 4">
            <a:extLst>
              <a:ext uri="{FF2B5EF4-FFF2-40B4-BE49-F238E27FC236}">
                <a16:creationId xmlns:a16="http://schemas.microsoft.com/office/drawing/2014/main" id="{AF042606-196B-7B08-9128-B5941E545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511" y="7542531"/>
            <a:ext cx="414518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27" name="TextBox 35">
            <a:extLst>
              <a:ext uri="{FF2B5EF4-FFF2-40B4-BE49-F238E27FC236}">
                <a16:creationId xmlns:a16="http://schemas.microsoft.com/office/drawing/2014/main" id="{354120A4-8BA7-C262-1216-815282A21CBE}"/>
              </a:ext>
            </a:extLst>
          </p:cNvPr>
          <p:cNvSpPr txBox="1"/>
          <p:nvPr/>
        </p:nvSpPr>
        <p:spPr>
          <a:xfrm>
            <a:off x="3009900" y="8636000"/>
            <a:ext cx="2120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학습 결과</a:t>
            </a:r>
            <a:endParaRPr lang="en-US" altLang="ko-KR" sz="2400" dirty="0">
              <a:solidFill>
                <a:schemeClr val="tx1">
                  <a:lumMod val="95000"/>
                  <a:lumOff val="5000"/>
                </a:schemeClr>
              </a:solidFill>
              <a:ea typeface="Pretendard Light"/>
            </a:endParaRPr>
          </a:p>
          <a:p>
            <a:pPr lvl="0">
              <a:lnSpc>
                <a:spcPct val="99600"/>
              </a:lnSpc>
              <a:buClr>
                <a:srgbClr val="000000"/>
              </a:buClr>
            </a:pPr>
            <a:endParaRPr lang="ko-KR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a typeface="Pretendard Light"/>
            </a:endParaRP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A656679D-9B28-A008-8A72-83EBAD087252}"/>
              </a:ext>
            </a:extLst>
          </p:cNvPr>
          <p:cNvSpPr txBox="1"/>
          <p:nvPr/>
        </p:nvSpPr>
        <p:spPr>
          <a:xfrm>
            <a:off x="13452929" y="4876800"/>
            <a:ext cx="35179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  <a:buClr>
                <a:srgbClr val="000000"/>
              </a:buClr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●</a:t>
            </a:r>
            <a:r>
              <a:rPr lang="en-US" altLang="ko-KR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 </a:t>
            </a:r>
            <a:r>
              <a:rPr lang="ko-KR" alt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a typeface="Pretendard Light"/>
              </a:rPr>
              <a:t>시스템 구성도</a:t>
            </a:r>
            <a:endParaRPr lang="ko-KR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a typeface="Pretendar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/>
          <p:cNvSpPr/>
          <p:nvPr/>
        </p:nvSpPr>
        <p:spPr>
          <a:xfrm>
            <a:off x="0" y="0"/>
            <a:ext cx="18288000" cy="2917371"/>
          </a:xfrm>
          <a:prstGeom prst="rect">
            <a:avLst/>
          </a:prstGeom>
          <a:solidFill>
            <a:srgbClr val="4A5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272494" y="437216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9600"/>
              </a:lnSpc>
            </a:pPr>
            <a:r>
              <a:rPr lang="ko-KR" altLang="en-US" sz="5500" dirty="0">
                <a:solidFill>
                  <a:schemeClr val="bg1"/>
                </a:solidFill>
                <a:latin typeface="Pretendard Black" panose="020B0600000101010101" charset="-127"/>
                <a:ea typeface="Pretendard Black" panose="020B0600000101010101" charset="-127"/>
              </a:rPr>
              <a:t>프</a:t>
            </a:r>
            <a:r>
              <a:rPr lang="ko-KR" sz="5500" b="0" i="0" u="none" strike="noStrike" dirty="0">
                <a:solidFill>
                  <a:schemeClr val="bg1"/>
                </a:solidFill>
                <a:latin typeface="Pretendard Black" panose="020B0600000101010101" charset="-127"/>
                <a:ea typeface="Pretendard Black" panose="020B0600000101010101" charset="-127"/>
              </a:rPr>
              <a:t>로젝트</a:t>
            </a:r>
            <a:r>
              <a:rPr lang="en-US" sz="5500" b="0" i="0" u="none" strike="noStrike" dirty="0">
                <a:solidFill>
                  <a:schemeClr val="bg1"/>
                </a:solidFill>
                <a:latin typeface="Pretendard Black" panose="020B0600000101010101" charset="-127"/>
                <a:ea typeface="Pretendard Black" panose="020B0600000101010101" charset="-127"/>
              </a:rPr>
              <a:t> </a:t>
            </a:r>
            <a:r>
              <a:rPr lang="ko-KR" sz="5500" b="0" i="0" u="none" strike="noStrike" dirty="0">
                <a:solidFill>
                  <a:schemeClr val="bg1"/>
                </a:solidFill>
                <a:latin typeface="Pretendard Black" panose="020B0600000101010101" charset="-127"/>
                <a:ea typeface="Pretendard Black" panose="020B0600000101010101" charset="-127"/>
              </a:rPr>
              <a:t>추</a:t>
            </a:r>
            <a:r>
              <a:rPr lang="ko-KR" altLang="en-US" sz="5500" b="0" i="0" u="none" strike="noStrike" dirty="0">
                <a:solidFill>
                  <a:schemeClr val="bg1"/>
                </a:solidFill>
                <a:latin typeface="Pretendard Black" panose="020B0600000101010101" charset="-127"/>
                <a:ea typeface="Pretendard Black" panose="020B0600000101010101" charset="-127"/>
              </a:rPr>
              <a:t>진 배</a:t>
            </a:r>
            <a:r>
              <a:rPr lang="ko-KR" sz="5500" b="0" i="0" u="none" strike="noStrike" dirty="0">
                <a:solidFill>
                  <a:schemeClr val="bg1"/>
                </a:solidFill>
                <a:latin typeface="Pretendard Black" panose="020B0600000101010101" charset="-127"/>
                <a:ea typeface="Pretendard Black" panose="020B0600000101010101" charset="-127"/>
              </a:rPr>
              <a:t>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428" y="6713723"/>
            <a:ext cx="1895577" cy="553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>
                <a:latin typeface="Pretendard SemiBold" panose="020B0600000101010101" charset="-127"/>
                <a:ea typeface="Pretendard SemiBold" panose="020B0600000101010101" charset="-127"/>
              </a:rPr>
              <a:t>15,333</a:t>
            </a:r>
            <a:r>
              <a:rPr lang="ko-KR" altLang="en-US" sz="3000">
                <a:latin typeface="Pretendard SemiBold" panose="020B0600000101010101" charset="-127"/>
                <a:ea typeface="Pretendard SemiBold" panose="020B0600000101010101" charset="-127"/>
              </a:rPr>
              <a:t>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76200" y="1561097"/>
            <a:ext cx="8526911" cy="94050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800" i="0" u="none" strike="noStrike" dirty="0">
                <a:solidFill>
                  <a:schemeClr val="bg1"/>
                </a:solidFill>
                <a:latin typeface="Pretendard Bold"/>
                <a:ea typeface="Pretendard SemiBold"/>
              </a:rPr>
              <a:t>매년 오르는 디지털미디어 제작자</a:t>
            </a:r>
            <a:endParaRPr lang="ko-KR" sz="4800" i="0" u="none" strike="noStrike" dirty="0">
              <a:solidFill>
                <a:schemeClr val="bg1"/>
              </a:solidFill>
              <a:latin typeface="Pretendard Bold"/>
              <a:ea typeface="Pretendard SemiBold"/>
            </a:endParaRPr>
          </a:p>
        </p:txBody>
      </p:sp>
      <p:sp>
        <p:nvSpPr>
          <p:cNvPr id="31" name="정육면체 30"/>
          <p:cNvSpPr/>
          <p:nvPr/>
        </p:nvSpPr>
        <p:spPr>
          <a:xfrm>
            <a:off x="5351553" y="7413703"/>
            <a:ext cx="1654277" cy="1884449"/>
          </a:xfrm>
          <a:prstGeom prst="cub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304532" y="9308983"/>
            <a:ext cx="1524000" cy="553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>
                <a:solidFill>
                  <a:schemeClr val="bg1">
                    <a:lumMod val="6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2022</a:t>
            </a:r>
            <a:r>
              <a:rPr lang="ko-KR" altLang="en-US" sz="3000">
                <a:solidFill>
                  <a:schemeClr val="bg1">
                    <a:lumMod val="6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84885" y="4486873"/>
            <a:ext cx="1828800" cy="553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>
                <a:latin typeface="Pretendard SemiBold" panose="020B0600000101010101" charset="-127"/>
                <a:ea typeface="Pretendard SemiBold" panose="020B0600000101010101" charset="-127"/>
              </a:rPr>
              <a:t>35,375</a:t>
            </a:r>
            <a:r>
              <a:rPr lang="ko-KR" altLang="en-US" sz="3000">
                <a:latin typeface="Pretendard SemiBold" panose="020B0600000101010101" charset="-127"/>
                <a:ea typeface="Pretendard SemiBold" panose="020B0600000101010101" charset="-127"/>
              </a:rPr>
              <a:t>명</a:t>
            </a:r>
          </a:p>
        </p:txBody>
      </p:sp>
      <p:sp>
        <p:nvSpPr>
          <p:cNvPr id="45" name="정육면체 44"/>
          <p:cNvSpPr/>
          <p:nvPr/>
        </p:nvSpPr>
        <p:spPr>
          <a:xfrm>
            <a:off x="9140954" y="5105605"/>
            <a:ext cx="1716663" cy="4192548"/>
          </a:xfrm>
          <a:prstGeom prst="cub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9140954" y="9313901"/>
            <a:ext cx="1524000" cy="553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>
                <a:solidFill>
                  <a:schemeClr val="bg1">
                    <a:lumMod val="6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2023</a:t>
            </a:r>
            <a:r>
              <a:rPr lang="ko-KR" altLang="en-US" sz="3000">
                <a:solidFill>
                  <a:schemeClr val="bg1">
                    <a:lumMod val="6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년</a:t>
            </a:r>
          </a:p>
        </p:txBody>
      </p:sp>
      <p:sp>
        <p:nvSpPr>
          <p:cNvPr id="48" name="정육면체 47"/>
          <p:cNvSpPr/>
          <p:nvPr/>
        </p:nvSpPr>
        <p:spPr>
          <a:xfrm>
            <a:off x="13104878" y="3687302"/>
            <a:ext cx="1964430" cy="5610851"/>
          </a:xfrm>
          <a:prstGeom prst="cube">
            <a:avLst/>
          </a:prstGeom>
          <a:solidFill>
            <a:srgbClr val="4A5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13138471" y="9313901"/>
            <a:ext cx="1524000" cy="553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>
                <a:solidFill>
                  <a:schemeClr val="bg1">
                    <a:lumMod val="6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2024</a:t>
            </a:r>
            <a:r>
              <a:rPr lang="ko-KR" altLang="en-US" sz="3000">
                <a:solidFill>
                  <a:schemeClr val="bg1">
                    <a:lumMod val="6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104878" y="3034826"/>
            <a:ext cx="2135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solidFill>
                  <a:srgbClr val="4A527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42,378</a:t>
            </a:r>
            <a:r>
              <a:rPr lang="ko-KR" altLang="en-US" sz="3600">
                <a:solidFill>
                  <a:srgbClr val="4A527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명</a:t>
            </a:r>
          </a:p>
        </p:txBody>
      </p:sp>
      <p:sp>
        <p:nvSpPr>
          <p:cNvPr id="52" name="TextBox 14"/>
          <p:cNvSpPr txBox="1"/>
          <p:nvPr/>
        </p:nvSpPr>
        <p:spPr>
          <a:xfrm>
            <a:off x="272494" y="2313527"/>
            <a:ext cx="10705971" cy="94050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2800" b="0" i="0" u="none" strike="noStrike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출처 </a:t>
            </a:r>
            <a:r>
              <a:rPr lang="en-US" altLang="ko-KR" sz="2800" b="0" i="0" u="none" strike="noStrike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en-US" sz="2800" b="0" i="0" u="none" strike="noStrike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한국전파진흥협회</a:t>
            </a:r>
            <a:r>
              <a:rPr lang="en-US" altLang="ko-KR" sz="2800" b="0" i="0" u="none" strike="noStrike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800" b="0" i="0" u="none" strike="noStrike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통계청</a:t>
            </a:r>
            <a:endParaRPr lang="ko-KR" sz="2800" b="0" i="0" u="none" strike="noStrike" dirty="0">
              <a:solidFill>
                <a:schemeClr val="bg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cxnSp>
        <p:nvCxnSpPr>
          <p:cNvPr id="58" name="직선 연결선 57"/>
          <p:cNvCxnSpPr/>
          <p:nvPr/>
        </p:nvCxnSpPr>
        <p:spPr>
          <a:xfrm flipV="1">
            <a:off x="6178691" y="5332833"/>
            <a:ext cx="3876663" cy="2286000"/>
          </a:xfrm>
          <a:prstGeom prst="line">
            <a:avLst/>
          </a:prstGeom>
          <a:ln w="28575" cap="rnd">
            <a:solidFill>
              <a:schemeClr val="tx2">
                <a:lumMod val="60000"/>
                <a:lumOff val="40000"/>
              </a:schemeClr>
            </a:solidFill>
            <a:headEnd type="oval" w="lg" len="lg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 flipV="1">
            <a:off x="10046101" y="3923818"/>
            <a:ext cx="4040992" cy="1393267"/>
          </a:xfrm>
          <a:prstGeom prst="line">
            <a:avLst/>
          </a:prstGeom>
          <a:ln w="28575" cap="rnd">
            <a:solidFill>
              <a:schemeClr val="tx2">
                <a:lumMod val="60000"/>
                <a:lumOff val="4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798598" y="4256942"/>
            <a:ext cx="320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Pretendard SemiBold" panose="020B0600000101010101" charset="-127"/>
                <a:ea typeface="Pretendard SemiBold" panose="020B0600000101010101" charset="-127"/>
              </a:rPr>
              <a:t>2024</a:t>
            </a:r>
            <a:r>
              <a:rPr lang="ko-KR" altLang="en-US" sz="5400" dirty="0">
                <a:latin typeface="Pretendard SemiBold" panose="020B0600000101010101" charset="-127"/>
                <a:ea typeface="Pretendard SemiBold" panose="020B0600000101010101" charset="-127"/>
              </a:rPr>
              <a:t>년 </a:t>
            </a:r>
            <a:r>
              <a:rPr lang="en-US" altLang="ko-KR" sz="5400" dirty="0">
                <a:solidFill>
                  <a:srgbClr val="4A527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4</a:t>
            </a:r>
            <a:r>
              <a:rPr lang="ko-KR" altLang="en-US" sz="5400" dirty="0">
                <a:solidFill>
                  <a:srgbClr val="4A527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만명 </a:t>
            </a:r>
            <a:r>
              <a:rPr lang="ko-KR" altLang="en-US" sz="5400" dirty="0">
                <a:latin typeface="Pretendard SemiBold" panose="020B0600000101010101" charset="-127"/>
                <a:ea typeface="Pretendard SemiBold" panose="020B0600000101010101" charset="-127"/>
              </a:rPr>
              <a:t>돌파</a:t>
            </a:r>
          </a:p>
        </p:txBody>
      </p:sp>
    </p:spTree>
    <p:extLst>
      <p:ext uri="{BB962C8B-B14F-4D97-AF65-F5344CB8AC3E}">
        <p14:creationId xmlns:p14="http://schemas.microsoft.com/office/powerpoint/2010/main" val="244196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8"/>
          <p:cNvSpPr txBox="1"/>
          <p:nvPr/>
        </p:nvSpPr>
        <p:spPr>
          <a:xfrm>
            <a:off x="685800" y="452868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9600"/>
              </a:lnSpc>
            </a:pPr>
            <a:r>
              <a:rPr lang="ko-KR" altLang="en-US" sz="55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프</a:t>
            </a:r>
            <a:r>
              <a:rPr lang="ko-KR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로젝트</a:t>
            </a:r>
            <a:r>
              <a:rPr 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 </a:t>
            </a:r>
            <a:r>
              <a:rPr lang="ko-KR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추</a:t>
            </a:r>
            <a:r>
              <a:rPr lang="ko-KR" alt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진 배</a:t>
            </a:r>
            <a:r>
              <a:rPr lang="ko-KR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경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62F2F65-3ADA-6EFA-B49F-896BF8708EEB}"/>
              </a:ext>
            </a:extLst>
          </p:cNvPr>
          <p:cNvGrpSpPr/>
          <p:nvPr/>
        </p:nvGrpSpPr>
        <p:grpSpPr>
          <a:xfrm>
            <a:off x="685800" y="1562100"/>
            <a:ext cx="7848600" cy="8036216"/>
            <a:chOff x="300349" y="1415116"/>
            <a:chExt cx="8312371" cy="851107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0FC18093-F30A-5F1D-E5E7-AD0ED53C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1">
                  <a:lumMod val="50000"/>
                  <a:lumOff val="50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00349" y="1415116"/>
              <a:ext cx="8312371" cy="8511073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BCBE1A59-D102-EE19-8280-CF5AA1ACD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9724" t="35747" r="3356" b="60671"/>
            <a:stretch>
              <a:fillRect/>
            </a:stretch>
          </p:blipFill>
          <p:spPr>
            <a:xfrm>
              <a:off x="2743201" y="4457700"/>
              <a:ext cx="5562600" cy="304800"/>
            </a:xfrm>
            <a:prstGeom prst="rect">
              <a:avLst/>
            </a:prstGeom>
          </p:spPr>
        </p:pic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28BBA9A4-35CE-6138-F3A5-F16D20A0D5F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50000"/>
                <a:lumOff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991600" y="2280224"/>
            <a:ext cx="8962517" cy="659996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B45371C-4BDA-B0C4-4A91-A91C6CAF90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03" t="53773" r="9878" b="19671"/>
          <a:stretch>
            <a:fillRect/>
          </a:stretch>
        </p:blipFill>
        <p:spPr>
          <a:xfrm>
            <a:off x="9906001" y="5829300"/>
            <a:ext cx="71628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444866"/>
              </p:ext>
            </p:extLst>
          </p:nvPr>
        </p:nvGraphicFramePr>
        <p:xfrm>
          <a:off x="1168400" y="6578600"/>
          <a:ext cx="15951200" cy="1066800"/>
        </p:xfrm>
        <a:graphic>
          <a:graphicData uri="http://schemas.openxmlformats.org/drawingml/2006/table">
            <a:tbl>
              <a:tblPr/>
              <a:tblGrid>
                <a:gridCol w="795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6600" b="1" i="0" u="none" strike="noStrike" dirty="0">
                          <a:solidFill>
                            <a:srgbClr val="000000"/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개인정보</a:t>
                      </a:r>
                      <a:r>
                        <a:rPr lang="en-US" sz="6600" b="1" i="0" u="none" strike="noStrike" dirty="0">
                          <a:solidFill>
                            <a:srgbClr val="000000"/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6600" b="1" i="0" u="none" strike="noStrike" dirty="0">
                          <a:solidFill>
                            <a:srgbClr val="000000"/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보호</a:t>
                      </a:r>
                      <a:endParaRPr lang="en-US" sz="1600" b="1" dirty="0"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b="1"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6600" b="1" i="0" u="none" strike="noStrike" dirty="0">
                          <a:solidFill>
                            <a:srgbClr val="000000"/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시간</a:t>
                      </a:r>
                      <a:r>
                        <a:rPr lang="en-US" sz="6600" b="1" i="0" u="none" strike="noStrike" dirty="0">
                          <a:solidFill>
                            <a:srgbClr val="000000"/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6600" b="1" i="0" u="none" strike="noStrike" dirty="0">
                          <a:solidFill>
                            <a:srgbClr val="000000"/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절약</a:t>
                      </a:r>
                      <a:endParaRPr lang="en-US" sz="1600" b="1" dirty="0"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3263900" y="7708900"/>
            <a:ext cx="37211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3600" b="0" i="0" u="none" strike="noStrike">
                <a:solidFill>
                  <a:srgbClr val="787878"/>
                </a:solidFill>
                <a:ea typeface="Pretendard Regular"/>
              </a:rPr>
              <a:t>정확도</a:t>
            </a:r>
            <a:r>
              <a:rPr lang="en-US" sz="3600" b="0" i="0" u="none" strike="noStrike">
                <a:solidFill>
                  <a:srgbClr val="787878"/>
                </a:solidFill>
                <a:latin typeface="Pretendard Regular"/>
              </a:rPr>
              <a:t> 95% </a:t>
            </a:r>
            <a:r>
              <a:rPr lang="ko-KR" sz="3600" b="0" i="0" u="none" strike="noStrike">
                <a:solidFill>
                  <a:srgbClr val="787878"/>
                </a:solidFill>
                <a:ea typeface="Pretendard Regular"/>
              </a:rPr>
              <a:t>이상의</a:t>
            </a:r>
          </a:p>
          <a:p>
            <a:pPr lvl="0" algn="ctr">
              <a:lnSpc>
                <a:spcPct val="116199"/>
              </a:lnSpc>
            </a:pPr>
            <a:r>
              <a:rPr lang="ko-KR" sz="3600" b="0" i="0" u="none" strike="noStrike">
                <a:solidFill>
                  <a:srgbClr val="787878"/>
                </a:solidFill>
                <a:ea typeface="Pretendard Regular"/>
              </a:rPr>
              <a:t>모자이크</a:t>
            </a:r>
            <a:r>
              <a:rPr lang="en-US" sz="36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787878"/>
                </a:solidFill>
                <a:ea typeface="Pretendard Regular"/>
              </a:rPr>
              <a:t>성능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33200" y="7708900"/>
            <a:ext cx="37211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3600" b="0" i="0" u="none" strike="noStrike">
                <a:solidFill>
                  <a:srgbClr val="787878"/>
                </a:solidFill>
                <a:ea typeface="Pretendard Regular"/>
              </a:rPr>
              <a:t>향상된</a:t>
            </a:r>
            <a:r>
              <a:rPr lang="en-US" sz="36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787878"/>
                </a:solidFill>
                <a:ea typeface="Pretendard Regular"/>
              </a:rPr>
              <a:t>처리</a:t>
            </a:r>
            <a:r>
              <a:rPr lang="en-US" sz="36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787878"/>
                </a:solidFill>
                <a:ea typeface="Pretendard Regular"/>
              </a:rPr>
              <a:t>속도로</a:t>
            </a:r>
          </a:p>
          <a:p>
            <a:pPr lvl="0" algn="ctr">
              <a:lnSpc>
                <a:spcPct val="116199"/>
              </a:lnSpc>
            </a:pPr>
            <a:r>
              <a:rPr lang="ko-KR" sz="3600" b="0" i="0" u="none" strike="noStrike">
                <a:solidFill>
                  <a:srgbClr val="787878"/>
                </a:solidFill>
                <a:ea typeface="Pretendard Regular"/>
              </a:rPr>
              <a:t>시간</a:t>
            </a:r>
            <a:r>
              <a:rPr lang="en-US" sz="36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600" b="0" i="0" u="none" strike="noStrike">
                <a:solidFill>
                  <a:srgbClr val="787878"/>
                </a:solidFill>
                <a:ea typeface="Pretendard Regular"/>
              </a:rPr>
              <a:t>감축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142" y="2075995"/>
            <a:ext cx="4018616" cy="401861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672" y="1872445"/>
            <a:ext cx="4706155" cy="4706155"/>
          </a:xfrm>
          <a:prstGeom prst="rect">
            <a:avLst/>
          </a:prstGeom>
        </p:spPr>
      </p:pic>
      <p:sp>
        <p:nvSpPr>
          <p:cNvPr id="10" name="TextBox 18">
            <a:extLst>
              <a:ext uri="{FF2B5EF4-FFF2-40B4-BE49-F238E27FC236}">
                <a16:creationId xmlns:a16="http://schemas.microsoft.com/office/drawing/2014/main" id="{AB4D7FE4-B3A7-104A-67F4-F715449EE0A4}"/>
              </a:ext>
            </a:extLst>
          </p:cNvPr>
          <p:cNvSpPr txBox="1"/>
          <p:nvPr/>
        </p:nvSpPr>
        <p:spPr>
          <a:xfrm>
            <a:off x="685800" y="452868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9600"/>
              </a:lnSpc>
            </a:pPr>
            <a:r>
              <a:rPr lang="ko-KR" altLang="en-US" sz="55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프</a:t>
            </a:r>
            <a:r>
              <a:rPr lang="ko-KR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로젝트</a:t>
            </a:r>
            <a:r>
              <a:rPr 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 </a:t>
            </a:r>
            <a:r>
              <a:rPr lang="ko-KR" alt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 </a:t>
            </a:r>
            <a:r>
              <a:rPr lang="ko-KR" altLang="en-US" sz="55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목표</a:t>
            </a:r>
            <a:endParaRPr lang="ko-KR" sz="55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Pretendard Black" panose="020B0600000101010101" charset="-127"/>
              <a:ea typeface="Pretendard Black" panose="020B0600000101010101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5773014"/>
            <a:ext cx="8699500" cy="4085151"/>
          </a:xfrm>
          <a:prstGeom prst="rect">
            <a:avLst/>
          </a:prstGeom>
        </p:spPr>
      </p:pic>
      <p:pic>
        <p:nvPicPr>
          <p:cNvPr id="2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773014"/>
            <a:ext cx="8699500" cy="4085152"/>
          </a:xfrm>
          <a:prstGeom prst="rect">
            <a:avLst/>
          </a:prstGeom>
        </p:spPr>
      </p:pic>
      <p:pic>
        <p:nvPicPr>
          <p:cNvPr id="24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0" y="1562100"/>
            <a:ext cx="8699500" cy="4085151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62100"/>
            <a:ext cx="8699500" cy="4085152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207500" y="5773015"/>
            <a:ext cx="927100" cy="927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155122" y="5773014"/>
            <a:ext cx="927100" cy="927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0" y="4741298"/>
            <a:ext cx="927100" cy="927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153400" y="4741298"/>
            <a:ext cx="927100" cy="927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058400" y="8478377"/>
            <a:ext cx="5298574" cy="55132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  <a:buClr>
                <a:srgbClr val="000000"/>
              </a:buClr>
            </a:pP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ea typeface="Pretendard Regular"/>
              </a:rPr>
              <a:t>직관적인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ea typeface="Pretendard Regular"/>
              </a:rPr>
              <a:t>UI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ea typeface="Pretendard Regular"/>
              </a:rPr>
              <a:t>로 간편하게</a:t>
            </a:r>
            <a:endParaRPr lang="ko-KR" sz="3200" b="0" i="0" u="none" strike="noStrike" dirty="0">
              <a:solidFill>
                <a:schemeClr val="bg1">
                  <a:lumMod val="50000"/>
                </a:schemeClr>
              </a:solidFill>
              <a:ea typeface="Pretendard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093826" y="6511589"/>
            <a:ext cx="470662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400" b="1" i="0" u="none" strike="noStrike" dirty="0">
                <a:solidFill>
                  <a:srgbClr val="000000"/>
                </a:solidFill>
                <a:ea typeface="Pretendard SemiBold"/>
              </a:rPr>
              <a:t>사용자 친화적 인터페이스</a:t>
            </a:r>
            <a:endParaRPr lang="en-US" altLang="ko-KR" sz="5400" b="1" i="0" u="none" strike="noStrike" dirty="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624936" y="7997226"/>
            <a:ext cx="3604664" cy="9566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  <a:buClr>
                <a:srgbClr val="000000"/>
              </a:buClr>
            </a:pPr>
            <a:r>
              <a:rPr lang="ko-KR" altLang="en-US" sz="3200" b="0" i="0" u="none" strike="noStrike" dirty="0">
                <a:solidFill>
                  <a:schemeClr val="bg1">
                    <a:lumMod val="50000"/>
                  </a:schemeClr>
                </a:solidFill>
                <a:ea typeface="Pretendard Regular"/>
              </a:rPr>
              <a:t>탐지된 정보 중에 원하는 정보만 처리</a:t>
            </a:r>
            <a:endParaRPr lang="ko-KR" sz="3200" b="0" i="0" u="none" strike="noStrike" dirty="0">
              <a:solidFill>
                <a:schemeClr val="bg1">
                  <a:lumMod val="50000"/>
                </a:schemeClr>
              </a:solidFill>
              <a:ea typeface="Pretendard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711392" y="6896100"/>
            <a:ext cx="46228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5400" b="1" i="0" u="none" strike="noStrike" dirty="0">
                <a:solidFill>
                  <a:srgbClr val="000000"/>
                </a:solidFill>
                <a:ea typeface="Pretendard SemiBold"/>
              </a:rPr>
              <a:t>선택적 모자이크</a:t>
            </a:r>
            <a:endParaRPr lang="ko-KR" sz="5400" b="1" i="0" u="none" strike="noStrike" dirty="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134600" y="4178518"/>
            <a:ext cx="3429000" cy="88878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  <a:buClr>
                <a:srgbClr val="000000"/>
              </a:buClr>
            </a:pPr>
            <a:r>
              <a:rPr lang="ko-KR" altLang="en-US" sz="3200" b="0" i="0" u="none" strike="noStrike" dirty="0">
                <a:solidFill>
                  <a:schemeClr val="bg1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사용자의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3200" b="0" i="0" u="none" strike="noStrike" dirty="0">
                <a:solidFill>
                  <a:schemeClr val="bg1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편의성 향상</a:t>
            </a:r>
            <a:endParaRPr lang="en-US" altLang="ko-KR" sz="3200" dirty="0">
              <a:solidFill>
                <a:schemeClr val="bg1">
                  <a:lumMod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083800" y="2743200"/>
            <a:ext cx="40894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400" b="1" i="0" u="none" strike="noStrike" dirty="0" err="1">
                <a:solidFill>
                  <a:srgbClr val="000000"/>
                </a:solidFill>
                <a:ea typeface="Pretendard SemiBold"/>
              </a:rPr>
              <a:t>원클릭</a:t>
            </a:r>
            <a:r>
              <a:rPr lang="ko-KR" altLang="en-US" sz="5400" b="1" i="0" u="none" strike="noStrike" dirty="0">
                <a:solidFill>
                  <a:srgbClr val="000000"/>
                </a:solidFill>
                <a:ea typeface="Pretendard SemiBold"/>
              </a:rPr>
              <a:t> 업로드</a:t>
            </a:r>
            <a:endParaRPr lang="ko-KR" sz="5400" b="1" i="0" u="none" strike="noStrike" dirty="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038600" y="4152900"/>
            <a:ext cx="4312016" cy="4000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  <a:buClr>
                <a:srgbClr val="000000"/>
              </a:buClr>
            </a:pPr>
            <a:r>
              <a:rPr lang="en-US" sz="3200" b="0" i="0" u="none" strike="noStrike" dirty="0">
                <a:solidFill>
                  <a:schemeClr val="bg1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AI</a:t>
            </a:r>
            <a:r>
              <a:rPr lang="ko-KR" altLang="en-US" sz="3200" b="0" i="0" u="none" strike="noStrike" dirty="0">
                <a:solidFill>
                  <a:schemeClr val="bg1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를 통한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빠른</a:t>
            </a:r>
            <a:r>
              <a:rPr lang="ko-KR" altLang="en-US" sz="3200" b="0" i="0" u="none" strike="noStrike" dirty="0">
                <a:solidFill>
                  <a:schemeClr val="bg1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모자이크</a:t>
            </a:r>
            <a:endParaRPr lang="en-US" sz="3200" b="0" i="0" u="none" strike="noStrike" dirty="0">
              <a:solidFill>
                <a:schemeClr val="bg1">
                  <a:lumMod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031145" y="2256527"/>
            <a:ext cx="6303047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5400" b="1" i="0" u="none" strike="noStrike" dirty="0">
                <a:solidFill>
                  <a:srgbClr val="000000"/>
                </a:solidFill>
                <a:latin typeface="Pretendard SemiBold"/>
              </a:rPr>
              <a:t>AI </a:t>
            </a:r>
            <a:r>
              <a:rPr lang="ko-KR" sz="5400" b="1" i="0" u="none" strike="noStrike" dirty="0">
                <a:solidFill>
                  <a:srgbClr val="000000"/>
                </a:solidFill>
                <a:ea typeface="Pretendard SemiBold"/>
              </a:rPr>
              <a:t>객체</a:t>
            </a:r>
            <a:r>
              <a:rPr lang="en-US" sz="5400" b="1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400" b="1" i="0" u="none" strike="noStrike" dirty="0">
                <a:solidFill>
                  <a:srgbClr val="000000"/>
                </a:solidFill>
                <a:ea typeface="Pretendard SemiBold"/>
              </a:rPr>
              <a:t>탐지</a:t>
            </a:r>
            <a:r>
              <a:rPr lang="en-US" sz="5400" b="1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400" b="1" i="0" u="none" strike="noStrike" dirty="0">
                <a:solidFill>
                  <a:srgbClr val="000000"/>
                </a:solidFill>
                <a:ea typeface="Pretendard SemiBold"/>
              </a:rPr>
              <a:t>기반</a:t>
            </a:r>
            <a:r>
              <a:rPr lang="en-US" altLang="ko-KR" sz="5400" b="1" i="0" u="none" strike="noStrike" dirty="0">
                <a:solidFill>
                  <a:srgbClr val="000000"/>
                </a:solidFill>
                <a:ea typeface="Pretendard SemiBold"/>
              </a:rPr>
              <a:t> </a:t>
            </a:r>
          </a:p>
          <a:p>
            <a:pPr lvl="0" algn="r">
              <a:lnSpc>
                <a:spcPct val="99600"/>
              </a:lnSpc>
            </a:pPr>
            <a:r>
              <a:rPr lang="ko-KR" sz="5400" b="1" i="0" u="none" strike="noStrike" dirty="0">
                <a:solidFill>
                  <a:srgbClr val="000000"/>
                </a:solidFill>
                <a:ea typeface="Pretendard SemiBold"/>
              </a:rPr>
              <a:t>모자이크</a:t>
            </a:r>
            <a:r>
              <a:rPr lang="en-US" sz="5400" b="1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400" b="1" i="0" u="none" strike="noStrike" dirty="0">
                <a:solidFill>
                  <a:srgbClr val="000000"/>
                </a:solidFill>
                <a:ea typeface="Pretendard SemiBold"/>
              </a:rPr>
              <a:t>편집기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5125" y="2152330"/>
            <a:ext cx="2904690" cy="290469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99CCFF"/>
              </a:clrFrom>
              <a:clrTo>
                <a:srgbClr val="99CC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0446" y="6383096"/>
            <a:ext cx="2864986" cy="2864986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53" y="2234580"/>
            <a:ext cx="2575231" cy="2575231"/>
          </a:xfrm>
          <a:prstGeom prst="rect">
            <a:avLst/>
          </a:prstGeom>
        </p:spPr>
      </p:pic>
      <p:sp>
        <p:nvSpPr>
          <p:cNvPr id="3" name="순서도: 수행의 시작/종료 2"/>
          <p:cNvSpPr/>
          <p:nvPr/>
        </p:nvSpPr>
        <p:spPr>
          <a:xfrm rot="2601623">
            <a:off x="1439504" y="7885030"/>
            <a:ext cx="1063793" cy="378558"/>
          </a:xfrm>
          <a:prstGeom prst="flowChartTerminator">
            <a:avLst/>
          </a:prstGeom>
          <a:solidFill>
            <a:srgbClr val="86A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순서도: 수행의 시작/종료 32"/>
          <p:cNvSpPr/>
          <p:nvPr/>
        </p:nvSpPr>
        <p:spPr>
          <a:xfrm rot="7835933">
            <a:off x="1926083" y="7693713"/>
            <a:ext cx="1371833" cy="378558"/>
          </a:xfrm>
          <a:prstGeom prst="flowChartTerminator">
            <a:avLst/>
          </a:prstGeom>
          <a:solidFill>
            <a:srgbClr val="86A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62" y="6700115"/>
            <a:ext cx="2419475" cy="2419475"/>
          </a:xfrm>
          <a:prstGeom prst="rect">
            <a:avLst/>
          </a:prstGeom>
        </p:spPr>
      </p:pic>
      <p:sp>
        <p:nvSpPr>
          <p:cNvPr id="4" name="TextBox 18">
            <a:extLst>
              <a:ext uri="{FF2B5EF4-FFF2-40B4-BE49-F238E27FC236}">
                <a16:creationId xmlns:a16="http://schemas.microsoft.com/office/drawing/2014/main" id="{A1927DFE-BD69-C6BF-BB0C-470EBE0C41BF}"/>
              </a:ext>
            </a:extLst>
          </p:cNvPr>
          <p:cNvSpPr txBox="1"/>
          <p:nvPr/>
        </p:nvSpPr>
        <p:spPr>
          <a:xfrm>
            <a:off x="685800" y="452868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9600"/>
              </a:lnSpc>
            </a:pPr>
            <a:r>
              <a:rPr lang="ko-KR" altLang="en-US" sz="55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프로젝트</a:t>
            </a:r>
            <a:r>
              <a:rPr lang="ko-KR" alt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의 특징</a:t>
            </a:r>
            <a:r>
              <a:rPr lang="en-US" altLang="ko-KR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     </a:t>
            </a:r>
            <a:r>
              <a:rPr 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 </a:t>
            </a:r>
            <a:r>
              <a:rPr lang="ko-KR" alt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 </a:t>
            </a:r>
            <a:endParaRPr lang="ko-KR" sz="55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Pretendard Black" panose="020B0600000101010101" charset="-127"/>
              <a:ea typeface="Pretendard Black" panose="020B0600000101010101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32" y="1347907"/>
            <a:ext cx="8522468" cy="8431094"/>
          </a:xfrm>
          <a:prstGeom prst="rect">
            <a:avLst/>
          </a:prstGeom>
          <a:effectLst>
            <a:outerShdw blurRad="182036" dist="107408" dir="2700000">
              <a:srgbClr val="787878">
                <a:alpha val="3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10559666" y="7065175"/>
            <a:ext cx="6019800" cy="166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lang="ko-KR" sz="3600" i="0" u="none" strike="noStrike" dirty="0">
                <a:solidFill>
                  <a:srgbClr val="FFFFFF"/>
                </a:solidFill>
                <a:ea typeface="Pretendard Regular"/>
              </a:rPr>
              <a:t>탐지</a:t>
            </a:r>
            <a:r>
              <a:rPr lang="en-US" sz="360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600" i="0" u="none" strike="noStrike" dirty="0">
                <a:solidFill>
                  <a:srgbClr val="FFFFFF"/>
                </a:solidFill>
                <a:ea typeface="Pretendard Regular"/>
              </a:rPr>
              <a:t>정확도</a:t>
            </a:r>
            <a:r>
              <a:rPr lang="en-US" sz="360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600" i="0" u="none" strike="noStrike" dirty="0">
                <a:solidFill>
                  <a:srgbClr val="FFFFFF"/>
                </a:solidFill>
                <a:ea typeface="Pretendard Regular"/>
              </a:rPr>
              <a:t>높음</a:t>
            </a:r>
          </a:p>
          <a:p>
            <a:pPr marL="342900" lvl="0" indent="-342900" algn="l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lang="ko-KR" sz="3600" b="1" i="0" u="none" strike="noStrike" dirty="0">
                <a:solidFill>
                  <a:srgbClr val="FFFFFF"/>
                </a:solidFill>
                <a:ea typeface="Pretendard Regular"/>
              </a:rPr>
              <a:t>거리</a:t>
            </a:r>
            <a:r>
              <a:rPr lang="en-US" sz="3600" b="1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600" b="1" i="0" u="none" strike="noStrike" dirty="0">
                <a:solidFill>
                  <a:srgbClr val="FFFFFF"/>
                </a:solidFill>
                <a:ea typeface="Pretendard Regular"/>
              </a:rPr>
              <a:t>별</a:t>
            </a:r>
            <a:r>
              <a:rPr lang="en-US" sz="3600" b="1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600" b="1" i="0" u="none" strike="noStrike" dirty="0">
                <a:solidFill>
                  <a:srgbClr val="FFFFFF"/>
                </a:solidFill>
                <a:ea typeface="Pretendard Regular"/>
              </a:rPr>
              <a:t>모자이크</a:t>
            </a:r>
            <a:r>
              <a:rPr lang="en-US" sz="3600" b="1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altLang="en-US" sz="3600" b="1" dirty="0" err="1">
                <a:solidFill>
                  <a:srgbClr val="FFFFFF"/>
                </a:solidFill>
                <a:latin typeface="Pretendard Regular"/>
                <a:ea typeface="Pretendard Regular"/>
              </a:rPr>
              <a:t>탐지율</a:t>
            </a:r>
            <a:r>
              <a:rPr lang="ko-KR" altLang="en-US" sz="3600" b="1" dirty="0">
                <a:solidFill>
                  <a:srgbClr val="FFFFFF"/>
                </a:solidFill>
                <a:latin typeface="Pretendard Regular"/>
                <a:ea typeface="Pretendard Regular"/>
              </a:rPr>
              <a:t> 낮음</a:t>
            </a:r>
            <a:endParaRPr lang="en-US" sz="3600" b="1" i="0" u="none" strike="noStrike" dirty="0">
              <a:solidFill>
                <a:srgbClr val="FFFFFF"/>
              </a:solidFill>
              <a:latin typeface="Pretendard Regular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lang="ko-KR" sz="3600" b="1" i="0" u="none" strike="noStrike" dirty="0">
                <a:solidFill>
                  <a:srgbClr val="FFFFFF"/>
                </a:solidFill>
                <a:ea typeface="Pretendard Regular"/>
              </a:rPr>
              <a:t>모자이크</a:t>
            </a:r>
            <a:r>
              <a:rPr lang="en-US" sz="3600" b="1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600" b="1" i="0" u="none" strike="noStrike" dirty="0">
                <a:solidFill>
                  <a:srgbClr val="FFFFFF"/>
                </a:solidFill>
                <a:ea typeface="Pretendard Regular"/>
              </a:rPr>
              <a:t>강도</a:t>
            </a:r>
            <a:r>
              <a:rPr lang="en-US" sz="3600" b="1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600" b="1" i="0" u="none" strike="noStrike" dirty="0">
                <a:solidFill>
                  <a:srgbClr val="FFFFFF"/>
                </a:solidFill>
                <a:ea typeface="Pretendard Regular"/>
              </a:rPr>
              <a:t>조절</a:t>
            </a:r>
            <a:r>
              <a:rPr lang="en-US" sz="3600" b="1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600" b="1" i="0" u="none" strike="noStrike" dirty="0">
                <a:solidFill>
                  <a:srgbClr val="FFFFFF"/>
                </a:solidFill>
                <a:ea typeface="Pretendard Regular"/>
              </a:rPr>
              <a:t>한계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26466" y="1570975"/>
            <a:ext cx="38862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000" b="0" i="0" u="none" strike="noStrike" dirty="0" err="1">
                <a:solidFill>
                  <a:srgbClr val="FFFFFF"/>
                </a:solidFill>
                <a:latin typeface="Pretendard SemiBold"/>
              </a:rPr>
              <a:t>FilMora</a:t>
            </a:r>
            <a:r>
              <a:rPr lang="en-US" sz="6000" b="0" i="0" u="none" strike="noStrike" dirty="0">
                <a:solidFill>
                  <a:srgbClr val="FFFFFF"/>
                </a:solidFill>
                <a:latin typeface="Pretendard SemiBold"/>
              </a:rPr>
              <a:t> 14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16" y="1347907"/>
            <a:ext cx="8522468" cy="8431094"/>
          </a:xfrm>
          <a:prstGeom prst="rect">
            <a:avLst/>
          </a:prstGeom>
          <a:effectLst>
            <a:outerShdw blurRad="190594" dist="109904" dir="2700000">
              <a:srgbClr val="787878">
                <a:alpha val="3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059" y="2664389"/>
            <a:ext cx="6304782" cy="4421754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9166" y="2646775"/>
            <a:ext cx="6400800" cy="4418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591059" y="7581900"/>
            <a:ext cx="57150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buClr>
                <a:srgbClr val="787878"/>
              </a:buClr>
              <a:buFont typeface="Arial"/>
              <a:buChar char="●"/>
            </a:pPr>
            <a:r>
              <a:rPr lang="ko-KR" sz="3600" b="0" i="0" u="none" strike="noStrike" dirty="0">
                <a:ea typeface="Pretendard Regular"/>
              </a:rPr>
              <a:t>선택적</a:t>
            </a:r>
            <a:r>
              <a:rPr lang="en-US" sz="3600" b="0" i="0" u="none" strike="noStrike" dirty="0">
                <a:latin typeface="Pretendard Regular"/>
              </a:rPr>
              <a:t> </a:t>
            </a:r>
            <a:r>
              <a:rPr lang="ko-KR" sz="3600" b="0" i="0" u="none" strike="noStrike" dirty="0">
                <a:ea typeface="Pretendard Regular"/>
              </a:rPr>
              <a:t>모자이크</a:t>
            </a:r>
            <a:r>
              <a:rPr lang="en-US" sz="3600" b="0" i="0" u="none" strike="noStrike" dirty="0">
                <a:latin typeface="Pretendard Regular"/>
              </a:rPr>
              <a:t> </a:t>
            </a:r>
            <a:r>
              <a:rPr lang="ko-KR" sz="3600" b="0" i="0" u="none" strike="noStrike" dirty="0">
                <a:ea typeface="Pretendard Regular"/>
              </a:rPr>
              <a:t>처리</a:t>
            </a:r>
            <a:r>
              <a:rPr lang="en-US" sz="3600" b="0" i="0" u="none" strike="noStrike" dirty="0">
                <a:latin typeface="Pretendard Regular"/>
              </a:rPr>
              <a:t> </a:t>
            </a:r>
            <a:r>
              <a:rPr lang="ko-KR" sz="3600" b="0" i="0" u="none" strike="noStrike" dirty="0">
                <a:ea typeface="Pretendard Regular"/>
              </a:rPr>
              <a:t>가능</a:t>
            </a:r>
          </a:p>
          <a:p>
            <a:pPr marL="342900" lvl="0" indent="-342900" algn="l">
              <a:lnSpc>
                <a:spcPct val="200000"/>
              </a:lnSpc>
              <a:buClr>
                <a:srgbClr val="787878"/>
              </a:buClr>
              <a:buFont typeface="Arial"/>
              <a:buChar char="●"/>
            </a:pPr>
            <a:r>
              <a:rPr lang="ko-KR" sz="3600" b="1" i="0" u="none" strike="noStrike" dirty="0">
                <a:ea typeface="Pretendard Regular"/>
              </a:rPr>
              <a:t>탐지</a:t>
            </a:r>
            <a:r>
              <a:rPr lang="en-US" sz="3600" b="1" i="0" u="none" strike="noStrike" dirty="0">
                <a:latin typeface="Pretendard Regular"/>
              </a:rPr>
              <a:t> </a:t>
            </a:r>
            <a:r>
              <a:rPr lang="ko-KR" sz="3600" b="1" i="0" u="none" strike="noStrike" dirty="0">
                <a:ea typeface="Pretendard Regular"/>
              </a:rPr>
              <a:t>정확도</a:t>
            </a:r>
            <a:r>
              <a:rPr lang="en-US" sz="3600" b="1" i="0" u="none" strike="noStrike" dirty="0">
                <a:latin typeface="Pretendard Regular"/>
              </a:rPr>
              <a:t> </a:t>
            </a:r>
            <a:r>
              <a:rPr lang="ko-KR" sz="3600" b="1" i="0" u="none" strike="noStrike" dirty="0">
                <a:ea typeface="Pretendard Regular"/>
              </a:rPr>
              <a:t>한계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B0682F-B193-634C-1F5D-517962071550}"/>
              </a:ext>
            </a:extLst>
          </p:cNvPr>
          <p:cNvSpPr txBox="1"/>
          <p:nvPr/>
        </p:nvSpPr>
        <p:spPr>
          <a:xfrm>
            <a:off x="3486150" y="1552911"/>
            <a:ext cx="25146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000" b="0" i="0" u="none" strike="noStrike" dirty="0" err="1">
                <a:solidFill>
                  <a:srgbClr val="4A527B"/>
                </a:solidFill>
                <a:latin typeface="Pretendard SemiBold"/>
              </a:rPr>
              <a:t>BlurMe</a:t>
            </a:r>
            <a:endParaRPr lang="en-US" sz="6000" b="0" i="0" u="none" strike="noStrike" dirty="0">
              <a:solidFill>
                <a:srgbClr val="4A527B"/>
              </a:solidFill>
              <a:latin typeface="Pretendard SemiBold"/>
            </a:endParaRP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1B0611CB-EFBC-DDD0-A480-CC1C7AA48573}"/>
              </a:ext>
            </a:extLst>
          </p:cNvPr>
          <p:cNvSpPr txBox="1"/>
          <p:nvPr/>
        </p:nvSpPr>
        <p:spPr>
          <a:xfrm>
            <a:off x="685800" y="452868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9600"/>
              </a:lnSpc>
            </a:pPr>
            <a:r>
              <a:rPr lang="ko-KR" altLang="en-US" sz="55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유사 서비스 분석</a:t>
            </a:r>
            <a:endParaRPr lang="ko-KR" sz="55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Pretendard Black" panose="020B0600000101010101" charset="-127"/>
              <a:ea typeface="Pretendard Black" panose="020B0600000101010101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flipV="1">
            <a:off x="647633" y="2958455"/>
            <a:ext cx="4875339" cy="52423"/>
          </a:xfrm>
          <a:prstGeom prst="rect">
            <a:avLst/>
          </a:prstGeom>
        </p:spPr>
      </p:pic>
      <p:pic>
        <p:nvPicPr>
          <p:cNvPr id="22" name="Picture 5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flipV="1">
            <a:off x="3718615" y="8706842"/>
            <a:ext cx="4273381" cy="7410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843" y="1501973"/>
            <a:ext cx="7152449" cy="7152449"/>
          </a:xfrm>
          <a:prstGeom prst="rect">
            <a:avLst/>
          </a:prstGeom>
          <a:noFill/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flipV="1">
            <a:off x="13043029" y="4380496"/>
            <a:ext cx="4875339" cy="5242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017" y="7572454"/>
            <a:ext cx="1638300" cy="1638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6131" y="3524016"/>
            <a:ext cx="1659699" cy="1659699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9309" y="2148305"/>
            <a:ext cx="1531737" cy="1531737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304752" y="8833367"/>
            <a:ext cx="3724265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altLang="ko-KR" sz="2800" dirty="0">
                <a:solidFill>
                  <a:srgbClr val="787878"/>
                </a:solidFill>
                <a:ea typeface="Pretendard Regular"/>
              </a:rPr>
              <a:t>88% </a:t>
            </a:r>
            <a:r>
              <a:rPr lang="ko-KR" altLang="en-US" sz="2800" dirty="0">
                <a:solidFill>
                  <a:srgbClr val="787878"/>
                </a:solidFill>
                <a:ea typeface="Pretendard Regular"/>
              </a:rPr>
              <a:t>탐지 정확도로</a:t>
            </a:r>
            <a:endParaRPr lang="en-US" altLang="ko-KR" sz="2800" dirty="0">
              <a:solidFill>
                <a:srgbClr val="787878"/>
              </a:solidFill>
              <a:ea typeface="Pretendard Regular"/>
            </a:endParaRPr>
          </a:p>
          <a:p>
            <a:pPr lvl="0" algn="r">
              <a:lnSpc>
                <a:spcPct val="116199"/>
              </a:lnSpc>
            </a:pPr>
            <a:r>
              <a:rPr lang="ko-KR" altLang="en-US" sz="2800" dirty="0">
                <a:solidFill>
                  <a:srgbClr val="787878"/>
                </a:solidFill>
                <a:ea typeface="Pretendard Regular"/>
              </a:rPr>
              <a:t>확실한 개인정보 보호</a:t>
            </a:r>
            <a:endParaRPr lang="en-US" altLang="ko-KR" sz="2800" dirty="0">
              <a:solidFill>
                <a:srgbClr val="787878"/>
              </a:solidFill>
              <a:ea typeface="Pretendard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304752" y="7858204"/>
            <a:ext cx="3632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altLang="en-US" sz="5400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높은 </a:t>
            </a:r>
            <a:r>
              <a:rPr lang="ko-KR" sz="5400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정확도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68993" y="4554981"/>
            <a:ext cx="461335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800" b="0" i="0" u="none" strike="noStrike" dirty="0">
                <a:solidFill>
                  <a:srgbClr val="787878"/>
                </a:solidFill>
                <a:ea typeface="Pretendard Regular"/>
              </a:rPr>
              <a:t>사용자가 등록한 얼굴을 제외하고 </a:t>
            </a:r>
            <a:r>
              <a:rPr lang="ko-KR" altLang="en-US" sz="2800" dirty="0">
                <a:solidFill>
                  <a:srgbClr val="787878"/>
                </a:solidFill>
                <a:ea typeface="Pretendard Regular"/>
              </a:rPr>
              <a:t>미</a:t>
            </a:r>
            <a:r>
              <a:rPr lang="ko-KR" altLang="en-US" sz="2800" b="0" i="0" u="none" strike="noStrike" dirty="0">
                <a:solidFill>
                  <a:srgbClr val="787878"/>
                </a:solidFill>
                <a:ea typeface="Pretendard Regular"/>
              </a:rPr>
              <a:t>등록 얼굴만 모자이크 처리</a:t>
            </a:r>
            <a:endParaRPr lang="en-US" sz="2800" b="0" i="0" u="none" strike="noStrike" dirty="0">
              <a:solidFill>
                <a:srgbClr val="787878"/>
              </a:solidFill>
              <a:latin typeface="Pretendard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303390" y="3437894"/>
            <a:ext cx="45720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400" dirty="0">
                <a:solidFill>
                  <a:srgbClr val="000000"/>
                </a:solidFill>
                <a:ea typeface="Pretendard SemiBold"/>
              </a:rPr>
              <a:t>얼굴 등록 서비스</a:t>
            </a:r>
            <a:endParaRPr lang="ko-KR" sz="5400" b="0" i="0" u="none" strike="noStrike" dirty="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59836" y="3103387"/>
            <a:ext cx="4396223" cy="93360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altLang="en-US" sz="2800" dirty="0">
                <a:solidFill>
                  <a:srgbClr val="787878"/>
                </a:solidFill>
                <a:latin typeface="Pretendard Regular" panose="020B0600000101010101" charset="-127"/>
                <a:ea typeface="Pretendard Regular" panose="020B0600000101010101" charset="-127"/>
              </a:rPr>
              <a:t>제공되는 이모지를 사용하여 </a:t>
            </a:r>
            <a:endParaRPr lang="en-US" altLang="ko-KR" sz="2800" dirty="0">
              <a:solidFill>
                <a:srgbClr val="787878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r">
              <a:lnSpc>
                <a:spcPct val="116199"/>
              </a:lnSpc>
            </a:pPr>
            <a:r>
              <a:rPr lang="ko-KR" altLang="en-US" sz="2800" dirty="0">
                <a:solidFill>
                  <a:srgbClr val="787878"/>
                </a:solidFill>
                <a:latin typeface="Pretendard Regular" panose="020B0600000101010101" charset="-127"/>
                <a:ea typeface="Pretendard Regular" panose="020B0600000101010101" charset="-127"/>
              </a:rPr>
              <a:t>특색 있는 영상 연출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3400" y="2050801"/>
            <a:ext cx="4675909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altLang="en-US" sz="5400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스타일 </a:t>
            </a:r>
            <a:r>
              <a:rPr lang="ko-KR" altLang="en-US" sz="5400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블러</a:t>
            </a:r>
            <a:r>
              <a:rPr lang="ko-KR" altLang="en-US" sz="5400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처리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7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1076" y="3896817"/>
            <a:ext cx="914095" cy="91409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286" y="2371274"/>
            <a:ext cx="1015781" cy="1015781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158" y="7783269"/>
            <a:ext cx="1216670" cy="1216670"/>
          </a:xfrm>
          <a:prstGeom prst="rect">
            <a:avLst/>
          </a:prstGeom>
        </p:spPr>
      </p:pic>
      <p:sp>
        <p:nvSpPr>
          <p:cNvPr id="27" name="TextBox 18"/>
          <p:cNvSpPr txBox="1"/>
          <p:nvPr/>
        </p:nvSpPr>
        <p:spPr>
          <a:xfrm>
            <a:off x="533400" y="426332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5500" dirty="0">
                <a:solidFill>
                  <a:srgbClr val="000000"/>
                </a:solidFill>
                <a:latin typeface="Pretendard Black"/>
                <a:ea typeface="Pretendard Black"/>
              </a:rPr>
              <a:t>Mozik</a:t>
            </a:r>
            <a:r>
              <a:rPr lang="ko-KR" altLang="en-US" sz="5500" dirty="0">
                <a:solidFill>
                  <a:srgbClr val="000000"/>
                </a:solidFill>
                <a:latin typeface="Pretendard Black"/>
                <a:ea typeface="Pretendard Black"/>
              </a:rPr>
              <a:t>의</a:t>
            </a:r>
            <a:r>
              <a:rPr lang="en-US" altLang="ko-KR" sz="5500" dirty="0">
                <a:solidFill>
                  <a:srgbClr val="000000"/>
                </a:solidFill>
                <a:latin typeface="Pretendard Black"/>
                <a:ea typeface="Pretendard Black"/>
              </a:rPr>
              <a:t> </a:t>
            </a:r>
            <a:r>
              <a:rPr lang="ko-KR" altLang="en-US" sz="5500" dirty="0" err="1">
                <a:solidFill>
                  <a:srgbClr val="000000"/>
                </a:solidFill>
                <a:ea typeface="Pretendard Black"/>
              </a:rPr>
              <a:t>차별점</a:t>
            </a:r>
            <a:endParaRPr lang="ko-KR" altLang="ko-KR" sz="5500" dirty="0">
              <a:solidFill>
                <a:srgbClr val="000000"/>
              </a:solidFill>
              <a:ea typeface="Pretendard Black"/>
            </a:endParaRPr>
          </a:p>
        </p:txBody>
      </p:sp>
      <p:sp>
        <p:nvSpPr>
          <p:cNvPr id="11" name="순서도: 연결자 10"/>
          <p:cNvSpPr/>
          <p:nvPr/>
        </p:nvSpPr>
        <p:spPr>
          <a:xfrm>
            <a:off x="6824880" y="2835111"/>
            <a:ext cx="4477559" cy="4477559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4" t="18660" r="16509" b="14786"/>
          <a:stretch/>
        </p:blipFill>
        <p:spPr>
          <a:xfrm>
            <a:off x="7759872" y="3839975"/>
            <a:ext cx="2603945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48879-2DC9-E609-0E7F-E5799F0F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6">
            <a:extLst>
              <a:ext uri="{FF2B5EF4-FFF2-40B4-BE49-F238E27FC236}">
                <a16:creationId xmlns:a16="http://schemas.microsoft.com/office/drawing/2014/main" id="{65260A5A-13E6-584D-484B-08BFD8E3A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1778524"/>
            <a:ext cx="7798184" cy="7696200"/>
          </a:xfrm>
          <a:prstGeom prst="rect">
            <a:avLst/>
          </a:prstGeom>
          <a:effectLst>
            <a:outerShdw blurRad="190594" dist="109904" dir="2700000">
              <a:srgbClr val="787878">
                <a:alpha val="30000"/>
              </a:srgbClr>
            </a:outerShdw>
          </a:effectLst>
        </p:spPr>
      </p:pic>
      <p:pic>
        <p:nvPicPr>
          <p:cNvPr id="37" name="Picture 6">
            <a:extLst>
              <a:ext uri="{FF2B5EF4-FFF2-40B4-BE49-F238E27FC236}">
                <a16:creationId xmlns:a16="http://schemas.microsoft.com/office/drawing/2014/main" id="{187F9F33-7A10-CF6D-5010-611C4B2EA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78524"/>
            <a:ext cx="7798184" cy="7696200"/>
          </a:xfrm>
          <a:prstGeom prst="rect">
            <a:avLst/>
          </a:prstGeom>
          <a:effectLst>
            <a:outerShdw blurRad="190594" dist="109904" dir="2700000">
              <a:srgbClr val="787878">
                <a:alpha val="30000"/>
              </a:srgbClr>
            </a:outerShdw>
          </a:effectLst>
        </p:spPr>
      </p:pic>
      <p:sp>
        <p:nvSpPr>
          <p:cNvPr id="4" name="TextBox 18">
            <a:extLst>
              <a:ext uri="{FF2B5EF4-FFF2-40B4-BE49-F238E27FC236}">
                <a16:creationId xmlns:a16="http://schemas.microsoft.com/office/drawing/2014/main" id="{88953F97-9DE4-3B49-2417-F37A6C57A5B9}"/>
              </a:ext>
            </a:extLst>
          </p:cNvPr>
          <p:cNvSpPr txBox="1"/>
          <p:nvPr/>
        </p:nvSpPr>
        <p:spPr>
          <a:xfrm>
            <a:off x="685800" y="452868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9600"/>
              </a:lnSpc>
            </a:pPr>
            <a:r>
              <a:rPr lang="ko-KR" alt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얼굴 탐지 및 모자이크 처리 과정</a:t>
            </a:r>
            <a:r>
              <a:rPr lang="en-US" altLang="ko-KR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     </a:t>
            </a:r>
            <a:r>
              <a:rPr 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 </a:t>
            </a:r>
            <a:r>
              <a:rPr lang="ko-KR" altLang="en-US" sz="5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 </a:t>
            </a:r>
            <a:endParaRPr lang="ko-KR" sz="55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Pretendard Black" panose="020B0600000101010101" charset="-127"/>
              <a:ea typeface="Pretendard Black" panose="020B0600000101010101" charset="-127"/>
            </a:endParaRPr>
          </a:p>
        </p:txBody>
      </p:sp>
      <p:pic>
        <p:nvPicPr>
          <p:cNvPr id="10" name="그림 9" descr="사람, 의류, 인간의 얼굴, 재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D60BA4-3778-84C8-2679-52447192B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16" y="2388122"/>
            <a:ext cx="7107952" cy="5105401"/>
          </a:xfrm>
          <a:prstGeom prst="rect">
            <a:avLst/>
          </a:prstGeom>
        </p:spPr>
      </p:pic>
      <p:pic>
        <p:nvPicPr>
          <p:cNvPr id="13" name="그림 12" descr="그래픽, 상징, 일렉트릭 블루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95DBEC-8FCB-C651-51CC-30CB86677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931365" y="4299689"/>
            <a:ext cx="2653869" cy="2653869"/>
          </a:xfrm>
          <a:prstGeom prst="rect">
            <a:avLst/>
          </a:prstGeom>
        </p:spPr>
      </p:pic>
      <p:sp>
        <p:nvSpPr>
          <p:cNvPr id="36" name="TextBox 16">
            <a:extLst>
              <a:ext uri="{FF2B5EF4-FFF2-40B4-BE49-F238E27FC236}">
                <a16:creationId xmlns:a16="http://schemas.microsoft.com/office/drawing/2014/main" id="{F6F3F0FD-7EBE-21D0-E2FC-32CA6A2DB6F8}"/>
              </a:ext>
            </a:extLst>
          </p:cNvPr>
          <p:cNvSpPr txBox="1"/>
          <p:nvPr/>
        </p:nvSpPr>
        <p:spPr>
          <a:xfrm>
            <a:off x="990600" y="8055857"/>
            <a:ext cx="6172200" cy="181204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2800" b="1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800" b="1" dirty="0">
                <a:latin typeface="Pretendard Regular" panose="020B0600000101010101" charset="-127"/>
                <a:ea typeface="Pretendard Regular" panose="020B0600000101010101" charset="-127"/>
              </a:rPr>
              <a:t>YOLOv5 기반 얼굴 탐지 모델 사용</a:t>
            </a:r>
            <a:endParaRPr lang="en-US" altLang="ko-KR" sz="2800" b="1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2800" dirty="0">
                <a:latin typeface="Arial" panose="020B0604020202020204" pitchFamily="34" charset="0"/>
              </a:rPr>
              <a:t> </a:t>
            </a:r>
            <a:r>
              <a:rPr lang="ko-KR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실시간 탐지 및 </a:t>
            </a:r>
            <a:r>
              <a:rPr lang="ko-KR" altLang="en-US" sz="2800" dirty="0">
                <a:latin typeface="Pretendard Regular" panose="020B0600000101010101" charset="-127"/>
                <a:ea typeface="Pretendard Regular" panose="020B0600000101010101" charset="-127"/>
              </a:rPr>
              <a:t>프레임</a:t>
            </a:r>
            <a:r>
              <a:rPr lang="ko-KR" altLang="ko-KR" sz="2800" dirty="0">
                <a:latin typeface="Pretendard Regular" panose="020B0600000101010101" charset="-127"/>
                <a:ea typeface="Pretendard Regular" panose="020B0600000101010101" charset="-127"/>
              </a:rPr>
              <a:t> 생성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28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D489E844-015E-03AB-6087-173F33AA8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4200" y="7797714"/>
            <a:ext cx="681768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A</a:t>
            </a: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rcFace</a:t>
            </a: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기반 얼굴 </a:t>
            </a: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임베딩</a:t>
            </a: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분석</a:t>
            </a: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등록된 사용자 얼굴은 자동 제외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미등록 얼굴만 모자이크 적용</a:t>
            </a:r>
            <a:r>
              <a:rPr kumimoji="0" lang="en-US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3" name="그림 2" descr="사람, 의류, 벽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AE6058-3300-CB86-09E0-2CF3CDF14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2388121"/>
            <a:ext cx="7046283" cy="510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76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6CF189C7-D07B-B57D-A224-C5C524BD80B8}"/>
              </a:ext>
            </a:extLst>
          </p:cNvPr>
          <p:cNvGrpSpPr/>
          <p:nvPr/>
        </p:nvGrpSpPr>
        <p:grpSpPr>
          <a:xfrm>
            <a:off x="11881466" y="2246170"/>
            <a:ext cx="5702748" cy="7083916"/>
            <a:chOff x="406795" y="2593757"/>
            <a:chExt cx="5367356" cy="5742562"/>
          </a:xfrm>
          <a:solidFill>
            <a:schemeClr val="tx1"/>
          </a:solidFill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7703B86-1A14-2B7F-26AF-6D439FC4D86F}"/>
                </a:ext>
              </a:extLst>
            </p:cNvPr>
            <p:cNvSpPr/>
            <p:nvPr/>
          </p:nvSpPr>
          <p:spPr>
            <a:xfrm>
              <a:off x="407398" y="2593757"/>
              <a:ext cx="5323716" cy="3706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F5C2B8C-C22B-027C-297A-6AB6A447E17A}"/>
                </a:ext>
              </a:extLst>
            </p:cNvPr>
            <p:cNvSpPr/>
            <p:nvPr/>
          </p:nvSpPr>
          <p:spPr>
            <a:xfrm flipV="1">
              <a:off x="406795" y="8299257"/>
              <a:ext cx="5367356" cy="3706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07921F8-72EF-AB60-916C-0332863A1506}"/>
                </a:ext>
              </a:extLst>
            </p:cNvPr>
            <p:cNvSpPr/>
            <p:nvPr/>
          </p:nvSpPr>
          <p:spPr>
            <a:xfrm rot="5400000">
              <a:off x="-2430737" y="5443523"/>
              <a:ext cx="5718093" cy="4303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E6F99F1-3959-3A3B-9FC4-45093A83C0E8}"/>
                </a:ext>
              </a:extLst>
            </p:cNvPr>
            <p:cNvSpPr/>
            <p:nvPr/>
          </p:nvSpPr>
          <p:spPr>
            <a:xfrm rot="5400000" flipV="1">
              <a:off x="2893588" y="5431291"/>
              <a:ext cx="5718091" cy="4303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545" y="5727335"/>
            <a:ext cx="2289870" cy="2289870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6096001" y="1239958"/>
            <a:ext cx="5037425" cy="8135848"/>
            <a:chOff x="6432246" y="2599851"/>
            <a:chExt cx="5037425" cy="8135848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-4964"/>
            <a:stretch/>
          </p:blipFill>
          <p:spPr>
            <a:xfrm>
              <a:off x="7397719" y="9226719"/>
              <a:ext cx="3118149" cy="919305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018" y="2599851"/>
              <a:ext cx="1979891" cy="845417"/>
            </a:xfrm>
            <a:prstGeom prst="rect">
              <a:avLst/>
            </a:prstGeom>
          </p:spPr>
        </p:pic>
        <p:sp>
          <p:nvSpPr>
            <p:cNvPr id="14" name="직사각형 13"/>
            <p:cNvSpPr/>
            <p:nvPr/>
          </p:nvSpPr>
          <p:spPr>
            <a:xfrm>
              <a:off x="6432248" y="3033796"/>
              <a:ext cx="2677082" cy="4571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 flipV="1">
              <a:off x="6432246" y="10689980"/>
              <a:ext cx="5037425" cy="4571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 rot="5400000" flipV="1">
              <a:off x="2613094" y="6852950"/>
              <a:ext cx="7695695" cy="57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 rot="5400000">
              <a:off x="7607289" y="6850459"/>
              <a:ext cx="7679046" cy="4571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11169871" y="3034376"/>
              <a:ext cx="299799" cy="4571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6729356" y="3738709"/>
              <a:ext cx="4440515" cy="4493458"/>
              <a:chOff x="-243855" y="877069"/>
              <a:chExt cx="11639820" cy="10659748"/>
            </a:xfrm>
          </p:grpSpPr>
          <p:pic>
            <p:nvPicPr>
              <p:cNvPr id="26" name="그림 2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62494" y="5725171"/>
                <a:ext cx="5362603" cy="5362600"/>
              </a:xfrm>
              <a:prstGeom prst="rect">
                <a:avLst/>
              </a:prstGeom>
            </p:spPr>
          </p:pic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2381" y="2659732"/>
                <a:ext cx="3472820" cy="3887489"/>
              </a:xfrm>
              <a:prstGeom prst="rect">
                <a:avLst/>
              </a:prstGeom>
            </p:spPr>
          </p:pic>
          <p:grpSp>
            <p:nvGrpSpPr>
              <p:cNvPr id="29" name="그룹 28"/>
              <p:cNvGrpSpPr/>
              <p:nvPr/>
            </p:nvGrpSpPr>
            <p:grpSpPr>
              <a:xfrm>
                <a:off x="-243855" y="877069"/>
                <a:ext cx="11639820" cy="10659748"/>
                <a:chOff x="-1697861" y="-347948"/>
                <a:chExt cx="21761184" cy="20285306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30" name="직사각형 29"/>
                <p:cNvSpPr/>
                <p:nvPr/>
              </p:nvSpPr>
              <p:spPr>
                <a:xfrm flipV="1">
                  <a:off x="-1697861" y="-345357"/>
                  <a:ext cx="21537129" cy="206394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 flipV="1">
                  <a:off x="-1627493" y="19730946"/>
                  <a:ext cx="21637233" cy="206394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직사각형 31"/>
                <p:cNvSpPr/>
                <p:nvPr/>
              </p:nvSpPr>
              <p:spPr>
                <a:xfrm rot="5400000">
                  <a:off x="-11675588" y="9735573"/>
                  <a:ext cx="20179506" cy="22405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직사각형 32"/>
                <p:cNvSpPr/>
                <p:nvPr/>
              </p:nvSpPr>
              <p:spPr>
                <a:xfrm rot="5400000">
                  <a:off x="9808645" y="9682680"/>
                  <a:ext cx="20285306" cy="22405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21" name="그룹 20"/>
            <p:cNvGrpSpPr/>
            <p:nvPr/>
          </p:nvGrpSpPr>
          <p:grpSpPr>
            <a:xfrm>
              <a:off x="6883362" y="8960664"/>
              <a:ext cx="4261566" cy="1495835"/>
              <a:chOff x="-20575814" y="29502547"/>
              <a:chExt cx="21269421" cy="9466809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2" name="직사각형 21"/>
              <p:cNvSpPr/>
              <p:nvPr/>
            </p:nvSpPr>
            <p:spPr>
              <a:xfrm>
                <a:off x="-20575814" y="29502547"/>
                <a:ext cx="21192725" cy="289345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-20575814" y="38648417"/>
                <a:ext cx="21041243" cy="320939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 rot="5400000" flipV="1">
                <a:off x="-25022722" y="33949470"/>
                <a:ext cx="9145870" cy="25203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 rot="5400000" flipV="1">
                <a:off x="-4153889" y="34121860"/>
                <a:ext cx="9466809" cy="228183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" name="그룹 1"/>
          <p:cNvGrpSpPr/>
          <p:nvPr/>
        </p:nvGrpSpPr>
        <p:grpSpPr>
          <a:xfrm>
            <a:off x="12745096" y="4666882"/>
            <a:ext cx="4152214" cy="2429298"/>
            <a:chOff x="2497090" y="2352443"/>
            <a:chExt cx="11081133" cy="6483139"/>
          </a:xfrm>
        </p:grpSpPr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2402" y="2352443"/>
              <a:ext cx="4575821" cy="2427330"/>
            </a:xfrm>
            <a:prstGeom prst="rect">
              <a:avLst/>
            </a:prstGeom>
          </p:spPr>
        </p:pic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8028" y="5059997"/>
              <a:ext cx="3064597" cy="3775585"/>
            </a:xfrm>
            <a:prstGeom prst="rect">
              <a:avLst/>
            </a:prstGeom>
          </p:spPr>
        </p:pic>
        <p:pic>
          <p:nvPicPr>
            <p:cNvPr id="39" name="그림 38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7090" y="2828875"/>
              <a:ext cx="5550601" cy="1376808"/>
            </a:xfrm>
            <a:prstGeom prst="rect">
              <a:avLst/>
            </a:prstGeom>
          </p:spPr>
        </p:pic>
      </p:grpSp>
      <p:grpSp>
        <p:nvGrpSpPr>
          <p:cNvPr id="4" name="그룹 3"/>
          <p:cNvGrpSpPr/>
          <p:nvPr/>
        </p:nvGrpSpPr>
        <p:grpSpPr>
          <a:xfrm>
            <a:off x="762000" y="3846707"/>
            <a:ext cx="4537493" cy="4801993"/>
            <a:chOff x="406794" y="2593757"/>
            <a:chExt cx="5384286" cy="5742563"/>
          </a:xfrm>
          <a:solidFill>
            <a:schemeClr val="tx1"/>
          </a:solidFill>
        </p:grpSpPr>
        <p:sp>
          <p:nvSpPr>
            <p:cNvPr id="40" name="직사각형 39"/>
            <p:cNvSpPr/>
            <p:nvPr/>
          </p:nvSpPr>
          <p:spPr>
            <a:xfrm>
              <a:off x="407398" y="2593757"/>
              <a:ext cx="5323716" cy="7512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 flipV="1">
              <a:off x="406794" y="8271047"/>
              <a:ext cx="5384285" cy="6527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 rot="5400000">
              <a:off x="-2425126" y="5437913"/>
              <a:ext cx="5718093" cy="5425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 rot="5400000" flipV="1">
              <a:off x="2902053" y="5422825"/>
              <a:ext cx="5718091" cy="5996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12225671" y="2628900"/>
            <a:ext cx="4969252" cy="6286145"/>
            <a:chOff x="544048" y="2450534"/>
            <a:chExt cx="5697041" cy="5232791"/>
          </a:xfrm>
          <a:solidFill>
            <a:schemeClr val="tx1"/>
          </a:solidFill>
        </p:grpSpPr>
        <p:sp>
          <p:nvSpPr>
            <p:cNvPr id="48" name="직사각형 47"/>
            <p:cNvSpPr/>
            <p:nvPr/>
          </p:nvSpPr>
          <p:spPr>
            <a:xfrm flipV="1">
              <a:off x="544048" y="2450534"/>
              <a:ext cx="5697037" cy="373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596463" y="7638308"/>
              <a:ext cx="5644622" cy="4501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/>
            <p:cNvSpPr/>
            <p:nvPr/>
          </p:nvSpPr>
          <p:spPr>
            <a:xfrm rot="5400000" flipV="1">
              <a:off x="-2019825" y="5067036"/>
              <a:ext cx="5180162" cy="5241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/>
            <p:cNvSpPr/>
            <p:nvPr/>
          </p:nvSpPr>
          <p:spPr>
            <a:xfrm rot="5400000" flipV="1">
              <a:off x="3624799" y="5018546"/>
              <a:ext cx="5180165" cy="5241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오른쪽 화살표 4"/>
          <p:cNvSpPr/>
          <p:nvPr/>
        </p:nvSpPr>
        <p:spPr>
          <a:xfrm>
            <a:off x="4886530" y="4814381"/>
            <a:ext cx="2103936" cy="307943"/>
          </a:xfrm>
          <a:prstGeom prst="rightArrow">
            <a:avLst>
              <a:gd name="adj1" fmla="val 18602"/>
              <a:gd name="adj2" fmla="val 52616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오른쪽 화살표 51"/>
          <p:cNvSpPr/>
          <p:nvPr/>
        </p:nvSpPr>
        <p:spPr>
          <a:xfrm rot="10800000">
            <a:off x="4886530" y="5293448"/>
            <a:ext cx="2098620" cy="291229"/>
          </a:xfrm>
          <a:prstGeom prst="rightArrow">
            <a:avLst>
              <a:gd name="adj1" fmla="val 18602"/>
              <a:gd name="adj2" fmla="val 52616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오른쪽 화살표 54"/>
          <p:cNvSpPr/>
          <p:nvPr/>
        </p:nvSpPr>
        <p:spPr>
          <a:xfrm rot="5400000">
            <a:off x="8813986" y="7130208"/>
            <a:ext cx="553244" cy="223899"/>
          </a:xfrm>
          <a:prstGeom prst="rightArrow">
            <a:avLst>
              <a:gd name="adj1" fmla="val 18602"/>
              <a:gd name="adj2" fmla="val 526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오른쪽 화살표 55"/>
          <p:cNvSpPr/>
          <p:nvPr/>
        </p:nvSpPr>
        <p:spPr>
          <a:xfrm rot="16200000">
            <a:off x="8098291" y="7140569"/>
            <a:ext cx="574830" cy="203177"/>
          </a:xfrm>
          <a:prstGeom prst="rightArrow">
            <a:avLst>
              <a:gd name="adj1" fmla="val 18602"/>
              <a:gd name="adj2" fmla="val 526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오른쪽 화살표 56"/>
          <p:cNvSpPr/>
          <p:nvPr/>
        </p:nvSpPr>
        <p:spPr>
          <a:xfrm>
            <a:off x="10480598" y="4721707"/>
            <a:ext cx="2103936" cy="307943"/>
          </a:xfrm>
          <a:prstGeom prst="rightArrow">
            <a:avLst>
              <a:gd name="adj1" fmla="val 18602"/>
              <a:gd name="adj2" fmla="val 52616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오른쪽 화살표 57"/>
          <p:cNvSpPr/>
          <p:nvPr/>
        </p:nvSpPr>
        <p:spPr>
          <a:xfrm rot="10800000">
            <a:off x="10485914" y="5293448"/>
            <a:ext cx="2098620" cy="291229"/>
          </a:xfrm>
          <a:prstGeom prst="rightArrow">
            <a:avLst>
              <a:gd name="adj1" fmla="val 18602"/>
              <a:gd name="adj2" fmla="val 52616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순서도: 수행의 시작/종료 58"/>
          <p:cNvSpPr/>
          <p:nvPr/>
        </p:nvSpPr>
        <p:spPr>
          <a:xfrm>
            <a:off x="802824" y="3238500"/>
            <a:ext cx="2209800" cy="658510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latin typeface="Pretendard SemiBold" panose="020B0600000101010101" charset="-127"/>
                <a:ea typeface="Pretendard SemiBold" panose="020B0600000101010101" charset="-127"/>
              </a:rPr>
              <a:t>웹 서비스</a:t>
            </a:r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63" name="순서도: 수행의 시작/종료 62"/>
          <p:cNvSpPr/>
          <p:nvPr/>
        </p:nvSpPr>
        <p:spPr>
          <a:xfrm>
            <a:off x="11939107" y="1611281"/>
            <a:ext cx="2209800" cy="658510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latin typeface="Pretendard SemiBold" panose="020B0600000101010101" charset="-127"/>
                <a:ea typeface="Pretendard SemiBold" panose="020B0600000101010101" charset="-127"/>
              </a:rPr>
              <a:t>AI </a:t>
            </a:r>
            <a:r>
              <a:rPr lang="ko-KR" altLang="en-US" sz="3200" dirty="0">
                <a:latin typeface="Pretendard SemiBold" panose="020B0600000101010101" charset="-127"/>
                <a:ea typeface="Pretendard SemiBold" panose="020B0600000101010101" charset="-127"/>
              </a:rPr>
              <a:t>서버</a:t>
            </a:r>
          </a:p>
        </p:txBody>
      </p:sp>
      <p:sp>
        <p:nvSpPr>
          <p:cNvPr id="64" name="순서도: 수행의 시작/종료 63"/>
          <p:cNvSpPr/>
          <p:nvPr/>
        </p:nvSpPr>
        <p:spPr>
          <a:xfrm>
            <a:off x="6096859" y="1044038"/>
            <a:ext cx="2209800" cy="658510"/>
          </a:xfrm>
          <a:prstGeom prst="flowChartTerminator">
            <a:avLst/>
          </a:prstGeom>
          <a:solidFill>
            <a:srgbClr val="8EB4E3"/>
          </a:solidFill>
          <a:ln>
            <a:solidFill>
              <a:srgbClr val="8EB4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>
                <a:latin typeface="Pretendard SemiBold" panose="020B0600000101010101" charset="-127"/>
                <a:ea typeface="Pretendard SemiBold" panose="020B0600000101010101" charset="-127"/>
              </a:rPr>
              <a:t>웹 서버</a:t>
            </a:r>
            <a:endParaRPr lang="ko-KR" altLang="en-US" sz="3200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65" name="그림 64"/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99CCFF"/>
              </a:clrFrom>
              <a:clrTo>
                <a:srgbClr val="99CCFF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219" y="2246170"/>
            <a:ext cx="1793143" cy="179314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A7C646F-92F8-DED8-6BAB-5832283486A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6735" y="6323420"/>
            <a:ext cx="2287888" cy="422723"/>
          </a:xfrm>
          <a:prstGeom prst="rect">
            <a:avLst/>
          </a:prstGeom>
        </p:spPr>
      </p:pic>
      <p:sp>
        <p:nvSpPr>
          <p:cNvPr id="53" name="TextBox 18">
            <a:extLst>
              <a:ext uri="{FF2B5EF4-FFF2-40B4-BE49-F238E27FC236}">
                <a16:creationId xmlns:a16="http://schemas.microsoft.com/office/drawing/2014/main" id="{8B933A78-F3B8-1E8E-CAA8-04B819EFF40B}"/>
              </a:ext>
            </a:extLst>
          </p:cNvPr>
          <p:cNvSpPr txBox="1"/>
          <p:nvPr/>
        </p:nvSpPr>
        <p:spPr>
          <a:xfrm>
            <a:off x="685800" y="452868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9600"/>
              </a:lnSpc>
            </a:pPr>
            <a:r>
              <a:rPr lang="ko-KR" altLang="en-US" sz="55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Black" panose="020B0600000101010101" charset="-127"/>
                <a:ea typeface="Pretendard Black" panose="020B0600000101010101" charset="-127"/>
              </a:rPr>
              <a:t>시스템 구성도</a:t>
            </a:r>
            <a:endParaRPr lang="ko-KR" sz="55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Pretendard Black" panose="020B0600000101010101" charset="-127"/>
              <a:ea typeface="Pretendard Black" panose="020B0600000101010101" charset="-127"/>
            </a:endParaRPr>
          </a:p>
        </p:txBody>
      </p:sp>
      <p:pic>
        <p:nvPicPr>
          <p:cNvPr id="84" name="그림 83" descr="그래픽, 상징, 그래픽 디자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058612-65CA-021C-B2D3-DA5EF57F57B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098" y="3233093"/>
            <a:ext cx="3810000" cy="3810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92829A2-35AE-DD45-60E7-24478CA96C4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316" y="7552156"/>
            <a:ext cx="2519987" cy="6772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9"/>
          <p:cNvSpPr txBox="1"/>
          <p:nvPr/>
        </p:nvSpPr>
        <p:spPr>
          <a:xfrm>
            <a:off x="533400" y="1257300"/>
            <a:ext cx="4349604" cy="64228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4000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성능 평가 결과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6804B6FF-6B2A-8CAC-E397-FDEE71BC4EBA}"/>
              </a:ext>
            </a:extLst>
          </p:cNvPr>
          <p:cNvSpPr txBox="1"/>
          <p:nvPr/>
        </p:nvSpPr>
        <p:spPr>
          <a:xfrm>
            <a:off x="533400" y="426332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500" dirty="0">
                <a:solidFill>
                  <a:srgbClr val="000000"/>
                </a:solidFill>
                <a:latin typeface="Pretendard Black"/>
                <a:ea typeface="Pretendard Black"/>
              </a:rPr>
              <a:t>학습 결과</a:t>
            </a:r>
            <a:endParaRPr lang="ko-KR" altLang="ko-KR" sz="5500" dirty="0">
              <a:solidFill>
                <a:srgbClr val="000000"/>
              </a:solidFill>
              <a:ea typeface="Pretendard Black"/>
            </a:endParaRPr>
          </a:p>
        </p:txBody>
      </p:sp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81097D57-9CEA-326A-2E5E-94DC335E82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7034573"/>
              </p:ext>
            </p:extLst>
          </p:nvPr>
        </p:nvGraphicFramePr>
        <p:xfrm>
          <a:off x="9815925" y="2720316"/>
          <a:ext cx="7460738" cy="612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39A18CA2-E18A-2537-5175-AE8D687C9C3E}"/>
              </a:ext>
            </a:extLst>
          </p:cNvPr>
          <p:cNvGrpSpPr/>
          <p:nvPr/>
        </p:nvGrpSpPr>
        <p:grpSpPr>
          <a:xfrm>
            <a:off x="12639265" y="9486900"/>
            <a:ext cx="7782335" cy="610046"/>
            <a:chOff x="10287000" y="8755322"/>
            <a:chExt cx="8116459" cy="642284"/>
          </a:xfrm>
        </p:grpSpPr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7FDEE3A7-E341-9D47-80E4-DEDB20C38FEE}"/>
                </a:ext>
              </a:extLst>
            </p:cNvPr>
            <p:cNvSpPr txBox="1">
              <a:spLocks/>
            </p:cNvSpPr>
            <p:nvPr/>
          </p:nvSpPr>
          <p:spPr>
            <a:xfrm>
              <a:off x="10972802" y="8755322"/>
              <a:ext cx="7430657" cy="64228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>
                <a:lnSpc>
                  <a:spcPct val="116199"/>
                </a:lnSpc>
              </a:pPr>
              <a:r>
                <a:rPr lang="ko-KR" altLang="en-US" sz="4000" dirty="0">
                  <a:solidFill>
                    <a:srgbClr val="000000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절반         정면         측면</a:t>
              </a: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EEAF9277-46F0-BA89-2276-01A5627EC0BB}"/>
                </a:ext>
              </a:extLst>
            </p:cNvPr>
            <p:cNvSpPr/>
            <p:nvPr/>
          </p:nvSpPr>
          <p:spPr>
            <a:xfrm>
              <a:off x="10287000" y="8877300"/>
              <a:ext cx="533400" cy="520306"/>
            </a:xfrm>
            <a:prstGeom prst="roundRect">
              <a:avLst/>
            </a:prstGeom>
            <a:solidFill>
              <a:srgbClr val="40699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BDA09A05-8FFA-9601-1550-86A72FA26ABD}"/>
                </a:ext>
              </a:extLst>
            </p:cNvPr>
            <p:cNvSpPr/>
            <p:nvPr/>
          </p:nvSpPr>
          <p:spPr>
            <a:xfrm>
              <a:off x="12268200" y="8877300"/>
              <a:ext cx="533400" cy="520306"/>
            </a:xfrm>
            <a:prstGeom prst="roundRect">
              <a:avLst/>
            </a:prstGeom>
            <a:solidFill>
              <a:srgbClr val="4F81B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ED1D6AB-5C7F-4AE0-0058-3A86847538B4}"/>
                </a:ext>
              </a:extLst>
            </p:cNvPr>
            <p:cNvSpPr/>
            <p:nvPr/>
          </p:nvSpPr>
          <p:spPr>
            <a:xfrm>
              <a:off x="14316222" y="8877300"/>
              <a:ext cx="533400" cy="520306"/>
            </a:xfrm>
            <a:prstGeom prst="roundRect">
              <a:avLst/>
            </a:prstGeom>
            <a:solidFill>
              <a:srgbClr val="7E9B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5" name="TextBox 19">
            <a:extLst>
              <a:ext uri="{FF2B5EF4-FFF2-40B4-BE49-F238E27FC236}">
                <a16:creationId xmlns:a16="http://schemas.microsoft.com/office/drawing/2014/main" id="{C7F6180A-F923-E220-AB17-2C3757C65102}"/>
              </a:ext>
            </a:extLst>
          </p:cNvPr>
          <p:cNvSpPr txBox="1"/>
          <p:nvPr/>
        </p:nvSpPr>
        <p:spPr>
          <a:xfrm>
            <a:off x="11891178" y="3941224"/>
            <a:ext cx="2438400" cy="610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800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1,500</a:t>
            </a:r>
            <a:r>
              <a:rPr lang="ko-KR" altLang="en-US" sz="2800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장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57AEC10-F653-CD70-F46F-3531B6D5B374}"/>
              </a:ext>
            </a:extLst>
          </p:cNvPr>
          <p:cNvSpPr txBox="1"/>
          <p:nvPr/>
        </p:nvSpPr>
        <p:spPr>
          <a:xfrm>
            <a:off x="14393043" y="5810420"/>
            <a:ext cx="2438400" cy="610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800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4,500</a:t>
            </a:r>
            <a:r>
              <a:rPr lang="ko-KR" altLang="en-US" sz="2800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장</a:t>
            </a:r>
          </a:p>
        </p:txBody>
      </p:sp>
      <p:sp>
        <p:nvSpPr>
          <p:cNvPr id="57" name="TextBox 19">
            <a:extLst>
              <a:ext uri="{FF2B5EF4-FFF2-40B4-BE49-F238E27FC236}">
                <a16:creationId xmlns:a16="http://schemas.microsoft.com/office/drawing/2014/main" id="{375BC890-1091-46BC-8121-6625D472A5C2}"/>
              </a:ext>
            </a:extLst>
          </p:cNvPr>
          <p:cNvSpPr txBox="1"/>
          <p:nvPr/>
        </p:nvSpPr>
        <p:spPr>
          <a:xfrm>
            <a:off x="11494884" y="6293068"/>
            <a:ext cx="2438400" cy="610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800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3,000</a:t>
            </a:r>
            <a:r>
              <a:rPr lang="ko-KR" altLang="en-US" sz="2800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장</a:t>
            </a: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9B662F04-1016-5DBB-DCB0-5E38B23F7F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7362119"/>
              </p:ext>
            </p:extLst>
          </p:nvPr>
        </p:nvGraphicFramePr>
        <p:xfrm>
          <a:off x="1739383" y="2793664"/>
          <a:ext cx="6412122" cy="612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41984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0815" y="1562100"/>
            <a:ext cx="5511800" cy="8216900"/>
          </a:xfrm>
          <a:prstGeom prst="rect">
            <a:avLst/>
          </a:prstGeom>
          <a:effectLst>
            <a:outerShdw blurRad="113652" dist="84869" dir="2700000">
              <a:srgbClr val="787878">
                <a:alpha val="3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562100"/>
            <a:ext cx="5511800" cy="8216900"/>
          </a:xfrm>
          <a:prstGeom prst="rect">
            <a:avLst/>
          </a:prstGeom>
          <a:effectLst>
            <a:outerShdw blurRad="113652" dist="84869" dir="2700000">
              <a:srgbClr val="787878">
                <a:alpha val="3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85" y="1545996"/>
            <a:ext cx="5511800" cy="8216900"/>
          </a:xfrm>
          <a:prstGeom prst="rect">
            <a:avLst/>
          </a:prstGeom>
          <a:effectLst>
            <a:outerShdw blurRad="113652" dist="84869" dir="2700000">
              <a:srgbClr val="787878">
                <a:alpha val="3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200" y="2350554"/>
            <a:ext cx="2565400" cy="3162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7600" y="2350554"/>
            <a:ext cx="2565400" cy="3162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814300" y="7061200"/>
            <a:ext cx="46228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787878"/>
              </a:buClr>
              <a:buFont typeface="Arial"/>
              <a:buChar char="●"/>
            </a:pPr>
            <a:r>
              <a:rPr lang="en-US" sz="2800" b="0" i="0" u="none" strike="noStrike" dirty="0">
                <a:solidFill>
                  <a:srgbClr val="787878"/>
                </a:solidFill>
                <a:latin typeface="Pretendard Regular"/>
              </a:rPr>
              <a:t>Frontend / AI</a:t>
            </a:r>
          </a:p>
          <a:p>
            <a:pPr marL="342900" lvl="0" indent="-342900" algn="l">
              <a:lnSpc>
                <a:spcPct val="116199"/>
              </a:lnSpc>
              <a:buClr>
                <a:srgbClr val="787878"/>
              </a:buClr>
              <a:buFont typeface="Arial"/>
              <a:buChar char="●"/>
            </a:pPr>
            <a:r>
              <a:rPr lang="en-US" altLang="ko-KR" sz="2800" b="0" i="0" u="none" strike="noStrike" dirty="0">
                <a:solidFill>
                  <a:srgbClr val="787878"/>
                </a:solidFill>
                <a:ea typeface="Pretendard Regular"/>
              </a:rPr>
              <a:t>AI </a:t>
            </a: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모델</a:t>
            </a:r>
            <a:r>
              <a:rPr lang="en-US" sz="2800" b="0" i="0" u="none" strike="noStrike" dirty="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학습</a:t>
            </a:r>
          </a:p>
          <a:p>
            <a:pPr marL="342900" lvl="0" indent="-342900" algn="l">
              <a:lnSpc>
                <a:spcPct val="116199"/>
              </a:lnSpc>
              <a:buClr>
                <a:srgbClr val="787878"/>
              </a:buClr>
              <a:buFont typeface="Arial"/>
              <a:buChar char="●"/>
            </a:pPr>
            <a:r>
              <a:rPr lang="en-US" sz="2800" b="0" i="0" u="none" strike="noStrike" dirty="0">
                <a:solidFill>
                  <a:srgbClr val="787878"/>
                </a:solidFill>
                <a:latin typeface="Pretendard Regular"/>
              </a:rPr>
              <a:t>Web Server </a:t>
            </a: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설계</a:t>
            </a:r>
            <a:r>
              <a:rPr lang="en-US" sz="2800" b="0" i="0" u="none" strike="noStrike" dirty="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2800" b="0" i="0" u="none" strike="noStrike" dirty="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구현</a:t>
            </a:r>
          </a:p>
          <a:p>
            <a:pPr marL="342900" lvl="0" indent="-342900" algn="l">
              <a:lnSpc>
                <a:spcPct val="116199"/>
              </a:lnSpc>
              <a:buClr>
                <a:srgbClr val="787878"/>
              </a:buClr>
              <a:buFont typeface="Arial"/>
              <a:buChar char="●"/>
            </a:pPr>
            <a:r>
              <a:rPr lang="en-US" sz="2800" b="0" i="0" u="none" strike="noStrike" dirty="0">
                <a:solidFill>
                  <a:srgbClr val="787878"/>
                </a:solidFill>
                <a:latin typeface="Pretendard Regular"/>
              </a:rPr>
              <a:t>Database </a:t>
            </a: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연동</a:t>
            </a:r>
            <a:r>
              <a:rPr lang="en-US" sz="2800" b="0" i="0" u="none" strike="noStrike" dirty="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2800" b="0" i="0" u="none" strike="noStrike" dirty="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구현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5300" y="7061200"/>
            <a:ext cx="46355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en-US" sz="2800" b="0" i="0" u="none" strike="noStrike" dirty="0">
                <a:solidFill>
                  <a:srgbClr val="FFFFFF"/>
                </a:solidFill>
                <a:latin typeface="Pretendard Regular"/>
              </a:rPr>
              <a:t>Backend / AI </a:t>
            </a:r>
          </a:p>
          <a:p>
            <a:pPr marL="342900" lvl="0" indent="-342900" algn="l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ko-KR" sz="2800" b="0" i="0" u="none" strike="noStrike" dirty="0">
                <a:solidFill>
                  <a:srgbClr val="FFFFFF"/>
                </a:solidFill>
                <a:ea typeface="Pretendard Regular"/>
              </a:rPr>
              <a:t>프로젝트</a:t>
            </a:r>
            <a:r>
              <a:rPr lang="en-US" sz="28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FFFFFF"/>
                </a:solidFill>
                <a:ea typeface="Pretendard Regular"/>
              </a:rPr>
              <a:t>설계</a:t>
            </a:r>
            <a:r>
              <a:rPr lang="en-US" sz="28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FFFFFF"/>
                </a:solidFill>
                <a:ea typeface="Pretendard Regular"/>
              </a:rPr>
              <a:t>및</a:t>
            </a:r>
            <a:r>
              <a:rPr lang="en-US" sz="28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FFFFFF"/>
                </a:solidFill>
                <a:ea typeface="Pretendard Regular"/>
              </a:rPr>
              <a:t>구현</a:t>
            </a:r>
          </a:p>
          <a:p>
            <a:pPr marL="342900" lvl="0" indent="-342900" algn="l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en-US" sz="2800" b="0" i="0" u="none" strike="noStrike" dirty="0">
                <a:solidFill>
                  <a:srgbClr val="FFFFFF"/>
                </a:solidFill>
                <a:latin typeface="Pretendard Regular"/>
              </a:rPr>
              <a:t>AI Server </a:t>
            </a:r>
            <a:r>
              <a:rPr lang="ko-KR" sz="2800" b="0" i="0" u="none" strike="noStrike" dirty="0">
                <a:solidFill>
                  <a:srgbClr val="FFFFFF"/>
                </a:solidFill>
                <a:ea typeface="Pretendard Regular"/>
              </a:rPr>
              <a:t>설계</a:t>
            </a:r>
            <a:r>
              <a:rPr lang="en-US" sz="28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FFFFFF"/>
                </a:solidFill>
                <a:ea typeface="Pretendard Regular"/>
              </a:rPr>
              <a:t>및</a:t>
            </a:r>
            <a:r>
              <a:rPr lang="en-US" sz="28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FFFFFF"/>
                </a:solidFill>
                <a:ea typeface="Pretendard Regular"/>
              </a:rPr>
              <a:t>구현</a:t>
            </a:r>
          </a:p>
          <a:p>
            <a:pPr marL="342900" lvl="0" indent="-342900" algn="l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ko-KR" sz="2800" b="0" i="0" u="none" strike="noStrike" dirty="0">
                <a:solidFill>
                  <a:srgbClr val="FFFFFF"/>
                </a:solidFill>
                <a:ea typeface="Pretendard Regular"/>
              </a:rPr>
              <a:t>객체</a:t>
            </a:r>
            <a:r>
              <a:rPr lang="en-US" sz="28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FFFFFF"/>
                </a:solidFill>
                <a:ea typeface="Pretendard Regular"/>
              </a:rPr>
              <a:t>탐지</a:t>
            </a:r>
            <a:r>
              <a:rPr lang="en-US" sz="28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FFFFFF"/>
                </a:solidFill>
                <a:ea typeface="Pretendard Regular"/>
              </a:rPr>
              <a:t>기능</a:t>
            </a:r>
            <a:r>
              <a:rPr lang="en-US" sz="28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FFFFFF"/>
                </a:solidFill>
                <a:ea typeface="Pretendard Regular"/>
              </a:rPr>
              <a:t>구현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2500" y="7061200"/>
            <a:ext cx="46482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787878"/>
              </a:buClr>
              <a:buFont typeface="Arial"/>
              <a:buChar char="●"/>
            </a:pP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자료</a:t>
            </a:r>
            <a:r>
              <a:rPr lang="en-US" sz="2800" b="0" i="0" u="none" strike="noStrike" dirty="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수집</a:t>
            </a:r>
          </a:p>
          <a:p>
            <a:pPr marL="342900" lvl="0" indent="-342900" algn="l">
              <a:lnSpc>
                <a:spcPct val="116199"/>
              </a:lnSpc>
              <a:buClr>
                <a:srgbClr val="787878"/>
              </a:buClr>
              <a:buFont typeface="Arial"/>
              <a:buChar char="●"/>
            </a:pP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포스터</a:t>
            </a:r>
            <a:r>
              <a:rPr lang="en-US" sz="2800" b="0" i="0" u="none" strike="noStrike" dirty="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800" b="0" i="0" u="none" strike="noStrike" dirty="0">
                <a:solidFill>
                  <a:srgbClr val="787878"/>
                </a:solidFill>
                <a:ea typeface="Pretendard Regular"/>
              </a:rPr>
              <a:t>제작</a:t>
            </a:r>
            <a:endParaRPr lang="en-US" altLang="ko-KR" sz="2800" b="0" i="0" u="none" strike="noStrike" dirty="0">
              <a:solidFill>
                <a:srgbClr val="787878"/>
              </a:solidFill>
              <a:ea typeface="Pretendard Regular"/>
            </a:endParaRPr>
          </a:p>
          <a:p>
            <a:pPr marL="342900" lvl="0" indent="-342900" algn="l">
              <a:lnSpc>
                <a:spcPct val="116199"/>
              </a:lnSpc>
              <a:buClr>
                <a:srgbClr val="787878"/>
              </a:buClr>
              <a:buFont typeface="Arial"/>
              <a:buChar char="●"/>
            </a:pPr>
            <a:r>
              <a:rPr lang="ko-KR" altLang="en-US" sz="2800" dirty="0">
                <a:solidFill>
                  <a:srgbClr val="787878"/>
                </a:solidFill>
                <a:ea typeface="Pretendard Regular"/>
              </a:rPr>
              <a:t>발표자료 제작</a:t>
            </a:r>
            <a:endParaRPr lang="ko-KR" sz="2800" b="0" i="0" u="none" strike="noStrike" dirty="0">
              <a:solidFill>
                <a:srgbClr val="787878"/>
              </a:solidFill>
              <a:ea typeface="Pretendard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814300" y="6362700"/>
            <a:ext cx="33401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600" b="0" i="0" u="none" strike="noStrike" dirty="0">
                <a:solidFill>
                  <a:srgbClr val="4A527B"/>
                </a:solidFill>
                <a:ea typeface="Pretendard SemiBold"/>
              </a:rPr>
              <a:t>최정환</a:t>
            </a:r>
            <a:r>
              <a:rPr lang="en-US" altLang="ko-KR" sz="3600" b="0" i="0" u="none" strike="noStrike" dirty="0">
                <a:solidFill>
                  <a:srgbClr val="4A527B"/>
                </a:solidFill>
                <a:ea typeface="Pretendard SemiBold"/>
              </a:rPr>
              <a:t> (45%)</a:t>
            </a:r>
            <a:endParaRPr lang="ko-KR" sz="3600" b="0" i="0" u="none" strike="noStrike" dirty="0">
              <a:solidFill>
                <a:srgbClr val="4A527B"/>
              </a:solidFill>
              <a:ea typeface="Pretendard Semi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845300" y="6362700"/>
            <a:ext cx="26670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600" b="0" i="0" u="none" strike="noStrike" dirty="0">
                <a:solidFill>
                  <a:srgbClr val="FFFFFF"/>
                </a:solidFill>
                <a:ea typeface="Pretendard SemiBold"/>
              </a:rPr>
              <a:t>이소빈</a:t>
            </a:r>
            <a:r>
              <a:rPr lang="en-US" altLang="ko-KR" sz="3600" b="0" i="0" u="none" strike="noStrike" dirty="0">
                <a:solidFill>
                  <a:srgbClr val="FFFFFF"/>
                </a:solidFill>
                <a:ea typeface="Pretendard SemiBold"/>
              </a:rPr>
              <a:t> (45%)</a:t>
            </a:r>
            <a:endParaRPr lang="ko-KR" sz="3600" b="0" i="0" u="none" strike="noStrike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65200" y="6362700"/>
            <a:ext cx="22098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3600" b="0" i="0" u="none" strike="noStrike" dirty="0" err="1">
                <a:solidFill>
                  <a:srgbClr val="4A527B"/>
                </a:solidFill>
                <a:ea typeface="Pretendard SemiBold"/>
              </a:rPr>
              <a:t>김하민</a:t>
            </a:r>
            <a:r>
              <a:rPr lang="en-US" altLang="ko-KR" sz="3600" b="0" i="0" u="none" strike="noStrike" dirty="0">
                <a:solidFill>
                  <a:srgbClr val="4A527B"/>
                </a:solidFill>
                <a:ea typeface="Pretendard SemiBold"/>
              </a:rPr>
              <a:t>(10%)</a:t>
            </a:r>
            <a:endParaRPr lang="ko-KR" sz="3600" b="0" i="0" u="none" strike="noStrike" dirty="0">
              <a:solidFill>
                <a:srgbClr val="4A527B"/>
              </a:solidFill>
              <a:ea typeface="Pretendard SemiBold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730" y="2196047"/>
            <a:ext cx="2579739" cy="3316807"/>
          </a:xfrm>
          <a:prstGeom prst="rect">
            <a:avLst/>
          </a:prstGeom>
        </p:spPr>
      </p:pic>
      <p:sp>
        <p:nvSpPr>
          <p:cNvPr id="7" name="TextBox 18">
            <a:extLst>
              <a:ext uri="{FF2B5EF4-FFF2-40B4-BE49-F238E27FC236}">
                <a16:creationId xmlns:a16="http://schemas.microsoft.com/office/drawing/2014/main" id="{9A14EEB3-399F-7A96-B685-9F6C4262AF48}"/>
              </a:ext>
            </a:extLst>
          </p:cNvPr>
          <p:cNvSpPr txBox="1"/>
          <p:nvPr/>
        </p:nvSpPr>
        <p:spPr>
          <a:xfrm>
            <a:off x="533400" y="426332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500" dirty="0">
                <a:solidFill>
                  <a:srgbClr val="000000"/>
                </a:solidFill>
                <a:latin typeface="Pretendard Black"/>
                <a:ea typeface="Pretendard Black"/>
              </a:rPr>
              <a:t>역할 분담</a:t>
            </a:r>
            <a:endParaRPr lang="ko-KR" altLang="ko-KR" sz="5500" dirty="0">
              <a:solidFill>
                <a:srgbClr val="000000"/>
              </a:solidFill>
              <a:ea typeface="Pretendard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116036"/>
              </p:ext>
            </p:extLst>
          </p:nvPr>
        </p:nvGraphicFramePr>
        <p:xfrm>
          <a:off x="812799" y="2362200"/>
          <a:ext cx="16941801" cy="6667500"/>
        </p:xfrm>
        <a:graphic>
          <a:graphicData uri="http://schemas.openxmlformats.org/drawingml/2006/table">
            <a:tbl>
              <a:tblPr/>
              <a:tblGrid>
                <a:gridCol w="2823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4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3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23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236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SemiBold"/>
                        </a:rPr>
                        <a:t>Project Title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0E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개발환경 설정 </a:t>
                      </a:r>
                      <a:br>
                        <a:rPr lang="en-US" altLang="ko-KR" sz="20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</a:b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딥러닝 모델 준비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0E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얼굴인식 및 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a typeface="Pretendard Regular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모자이크 처리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0E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인공지능 모델 학습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0E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DB </a:t>
                      </a: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및 서버 연결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0E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웹 페이지 제작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a typeface="Pretendard Regular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및 기능 연결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a typeface="Pretendard Regular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0E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기능테스트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0E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343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최종 보고서 및 제출</a:t>
                      </a:r>
                      <a:endParaRPr lang="en-US" sz="20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0E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4038600" y="2439769"/>
            <a:ext cx="1348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600" dirty="0">
                <a:latin typeface="Pretendard Regular" panose="020B0600000101010101" charset="-127"/>
                <a:ea typeface="Pretendard Regular" panose="020B0600000101010101" charset="-127"/>
              </a:rPr>
              <a:t>1     2     3     4     5     6     7     8     9     10     11     12     13     14     15</a:t>
            </a:r>
            <a:endParaRPr lang="ko-KR" altLang="en-US" sz="36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81" name="순서도: 대체 처리 80"/>
          <p:cNvSpPr/>
          <p:nvPr/>
        </p:nvSpPr>
        <p:spPr>
          <a:xfrm>
            <a:off x="4267200" y="3394415"/>
            <a:ext cx="1752600" cy="457200"/>
          </a:xfrm>
          <a:prstGeom prst="flowChartAlternateProcess">
            <a:avLst/>
          </a:prstGeom>
          <a:solidFill>
            <a:srgbClr val="4A527B"/>
          </a:solidFill>
          <a:ln>
            <a:solidFill>
              <a:srgbClr val="4A52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4A527B"/>
              </a:solidFill>
            </a:endParaRPr>
          </a:p>
        </p:txBody>
      </p:sp>
      <p:sp>
        <p:nvSpPr>
          <p:cNvPr id="82" name="순서도: 대체 처리 81"/>
          <p:cNvSpPr/>
          <p:nvPr/>
        </p:nvSpPr>
        <p:spPr>
          <a:xfrm>
            <a:off x="5105400" y="4218602"/>
            <a:ext cx="5219555" cy="457200"/>
          </a:xfrm>
          <a:prstGeom prst="flowChartAlternateProcess">
            <a:avLst/>
          </a:prstGeom>
          <a:solidFill>
            <a:srgbClr val="8F96BB"/>
          </a:solidFill>
          <a:ln>
            <a:solidFill>
              <a:srgbClr val="8F9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순서도: 대체 처리 82"/>
          <p:cNvSpPr/>
          <p:nvPr/>
        </p:nvSpPr>
        <p:spPr>
          <a:xfrm>
            <a:off x="6019800" y="5076193"/>
            <a:ext cx="5333999" cy="457200"/>
          </a:xfrm>
          <a:prstGeom prst="flowChartAlternateProcess">
            <a:avLst/>
          </a:prstGeom>
          <a:solidFill>
            <a:srgbClr val="4A527B"/>
          </a:solidFill>
          <a:ln>
            <a:solidFill>
              <a:srgbClr val="4A52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순서도: 대체 처리 83"/>
          <p:cNvSpPr/>
          <p:nvPr/>
        </p:nvSpPr>
        <p:spPr>
          <a:xfrm>
            <a:off x="14334012" y="8364680"/>
            <a:ext cx="2963388" cy="457200"/>
          </a:xfrm>
          <a:prstGeom prst="flowChartAlternateProcess">
            <a:avLst/>
          </a:prstGeom>
          <a:solidFill>
            <a:srgbClr val="4A527B"/>
          </a:solidFill>
          <a:ln>
            <a:solidFill>
              <a:srgbClr val="4A52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순서도: 대체 처리 84"/>
          <p:cNvSpPr/>
          <p:nvPr/>
        </p:nvSpPr>
        <p:spPr>
          <a:xfrm>
            <a:off x="12171343" y="7552763"/>
            <a:ext cx="5126057" cy="457200"/>
          </a:xfrm>
          <a:prstGeom prst="flowChartAlternateProcess">
            <a:avLst/>
          </a:prstGeom>
          <a:solidFill>
            <a:srgbClr val="8F96BB"/>
          </a:solidFill>
          <a:ln>
            <a:solidFill>
              <a:srgbClr val="8F9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순서도: 대체 처리 85"/>
          <p:cNvSpPr/>
          <p:nvPr/>
        </p:nvSpPr>
        <p:spPr>
          <a:xfrm>
            <a:off x="10324955" y="6724719"/>
            <a:ext cx="5896469" cy="457200"/>
          </a:xfrm>
          <a:prstGeom prst="flowChartAlternateProcess">
            <a:avLst/>
          </a:prstGeom>
          <a:solidFill>
            <a:srgbClr val="4A527B"/>
          </a:solidFill>
          <a:ln>
            <a:solidFill>
              <a:srgbClr val="4A52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순서도: 대체 처리 86"/>
          <p:cNvSpPr/>
          <p:nvPr/>
        </p:nvSpPr>
        <p:spPr>
          <a:xfrm>
            <a:off x="9482900" y="5896675"/>
            <a:ext cx="5751533" cy="457200"/>
          </a:xfrm>
          <a:prstGeom prst="flowChartAlternateProcess">
            <a:avLst/>
          </a:prstGeom>
          <a:solidFill>
            <a:srgbClr val="8F96BB"/>
          </a:solidFill>
          <a:ln>
            <a:solidFill>
              <a:srgbClr val="8F9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3" name="직선 연결선 92"/>
          <p:cNvCxnSpPr/>
          <p:nvPr/>
        </p:nvCxnSpPr>
        <p:spPr>
          <a:xfrm>
            <a:off x="3657600" y="2362200"/>
            <a:ext cx="0" cy="66675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18">
            <a:extLst>
              <a:ext uri="{FF2B5EF4-FFF2-40B4-BE49-F238E27FC236}">
                <a16:creationId xmlns:a16="http://schemas.microsoft.com/office/drawing/2014/main" id="{4E2A4A02-2769-4E78-9F49-BA53F0A4CAC5}"/>
              </a:ext>
            </a:extLst>
          </p:cNvPr>
          <p:cNvSpPr txBox="1"/>
          <p:nvPr/>
        </p:nvSpPr>
        <p:spPr>
          <a:xfrm>
            <a:off x="533400" y="426332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500" dirty="0">
                <a:solidFill>
                  <a:srgbClr val="000000"/>
                </a:solidFill>
                <a:latin typeface="Pretendard Black"/>
                <a:ea typeface="Pretendard Black"/>
              </a:rPr>
              <a:t>프로젝트 추진 일정</a:t>
            </a:r>
            <a:endParaRPr lang="ko-KR" altLang="ko-KR" sz="5500" dirty="0">
              <a:solidFill>
                <a:srgbClr val="000000"/>
              </a:solidFill>
              <a:ea typeface="Pretendard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직선 연결선 88"/>
          <p:cNvCxnSpPr/>
          <p:nvPr/>
        </p:nvCxnSpPr>
        <p:spPr>
          <a:xfrm>
            <a:off x="2698954" y="5600700"/>
            <a:ext cx="13261664" cy="0"/>
          </a:xfrm>
          <a:prstGeom prst="line">
            <a:avLst/>
          </a:prstGeom>
          <a:ln w="57150">
            <a:solidFill>
              <a:srgbClr val="8F96BB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1"/>
          <p:cNvSpPr txBox="1"/>
          <p:nvPr/>
        </p:nvSpPr>
        <p:spPr>
          <a:xfrm>
            <a:off x="2199255" y="6489123"/>
            <a:ext cx="2074174" cy="115627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4000" b="0" i="0" u="none" strike="noStrike">
                <a:solidFill>
                  <a:srgbClr val="000000"/>
                </a:solidFill>
                <a:ea typeface="Pretendard SemiBold"/>
              </a:rPr>
              <a:t>로그인</a:t>
            </a:r>
            <a:endParaRPr lang="en-US" altLang="ko-KR" sz="4000" b="0" i="0" u="none" strike="noStrike">
              <a:solidFill>
                <a:srgbClr val="000000"/>
              </a:solidFill>
              <a:ea typeface="Pretendard SemiBold"/>
            </a:endParaRPr>
          </a:p>
          <a:p>
            <a:pPr lvl="0">
              <a:lnSpc>
                <a:spcPct val="99600"/>
              </a:lnSpc>
            </a:pPr>
            <a:r>
              <a:rPr lang="ko-KR" altLang="en-US" sz="4000" b="0" i="0" u="none" strike="noStrike">
                <a:solidFill>
                  <a:srgbClr val="000000"/>
                </a:solidFill>
                <a:ea typeface="Pretendard SemiBold"/>
              </a:rPr>
              <a:t>회원가입</a:t>
            </a:r>
            <a:endParaRPr lang="ko-KR" sz="40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36" name="TextBox 21"/>
          <p:cNvSpPr txBox="1"/>
          <p:nvPr/>
        </p:nvSpPr>
        <p:spPr>
          <a:xfrm>
            <a:off x="5760941" y="6513100"/>
            <a:ext cx="3484199" cy="115473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000000"/>
                </a:solidFill>
                <a:ea typeface="Pretendard SemiBold"/>
              </a:rPr>
              <a:t>동영상</a:t>
            </a:r>
            <a:r>
              <a:rPr lang="en-US" altLang="ko-KR" sz="4000" b="0" i="0" u="none" strike="noStrike" dirty="0">
                <a:solidFill>
                  <a:srgbClr val="000000"/>
                </a:solidFill>
                <a:ea typeface="Pretendard SemiBold"/>
              </a:rPr>
              <a:t>/</a:t>
            </a:r>
            <a:r>
              <a:rPr lang="ko-KR" altLang="en-US" sz="4000" b="0" i="0" u="none" strike="noStrike" dirty="0">
                <a:solidFill>
                  <a:srgbClr val="000000"/>
                </a:solidFill>
                <a:ea typeface="Pretendard SemiBold"/>
              </a:rPr>
              <a:t>이미지 </a:t>
            </a:r>
            <a:endParaRPr lang="en-US" altLang="ko-KR" sz="4000" b="0" i="0" u="none" strike="noStrike" dirty="0">
              <a:solidFill>
                <a:srgbClr val="000000"/>
              </a:solidFill>
              <a:ea typeface="Pretendard SemiBold"/>
            </a:endParaRPr>
          </a:p>
          <a:p>
            <a:pPr lvl="0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000000"/>
                </a:solidFill>
                <a:ea typeface="Pretendard SemiBold"/>
              </a:rPr>
              <a:t>모자이크 처리</a:t>
            </a:r>
            <a:endParaRPr lang="ko-KR" sz="4000" b="0" i="0" u="none" strike="noStrike" dirty="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40" name="TextBox 21"/>
          <p:cNvSpPr txBox="1"/>
          <p:nvPr/>
        </p:nvSpPr>
        <p:spPr>
          <a:xfrm>
            <a:off x="9750630" y="5874990"/>
            <a:ext cx="3432280" cy="108926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endParaRPr lang="en-US" altLang="ko-KR" sz="4000" dirty="0">
              <a:solidFill>
                <a:srgbClr val="000000"/>
              </a:solidFill>
              <a:ea typeface="Pretendard SemiBold"/>
            </a:endParaRPr>
          </a:p>
          <a:p>
            <a:pPr lvl="0">
              <a:lnSpc>
                <a:spcPct val="99600"/>
              </a:lnSpc>
            </a:pPr>
            <a:r>
              <a:rPr lang="ko-KR" altLang="en-US" sz="4000" dirty="0">
                <a:solidFill>
                  <a:srgbClr val="000000"/>
                </a:solidFill>
                <a:ea typeface="Pretendard SemiBold"/>
              </a:rPr>
              <a:t>스타일 </a:t>
            </a:r>
            <a:r>
              <a:rPr lang="ko-KR" altLang="en-US" sz="4000" dirty="0" err="1">
                <a:solidFill>
                  <a:srgbClr val="000000"/>
                </a:solidFill>
                <a:ea typeface="Pretendard SemiBold"/>
              </a:rPr>
              <a:t>블러</a:t>
            </a:r>
            <a:r>
              <a:rPr lang="ko-KR" altLang="en-US" sz="4000" dirty="0">
                <a:solidFill>
                  <a:srgbClr val="000000"/>
                </a:solidFill>
                <a:ea typeface="Pretendard SemiBold"/>
              </a:rPr>
              <a:t> 처리</a:t>
            </a:r>
            <a:endParaRPr lang="ko-KR" sz="4000" b="0" i="0" u="none" strike="noStrike" dirty="0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44" name="TextBox 21"/>
          <p:cNvSpPr txBox="1"/>
          <p:nvPr/>
        </p:nvSpPr>
        <p:spPr>
          <a:xfrm>
            <a:off x="14214575" y="6419624"/>
            <a:ext cx="3124200" cy="12091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4000" dirty="0">
                <a:solidFill>
                  <a:srgbClr val="000000"/>
                </a:solidFill>
                <a:ea typeface="Pretendard SemiBold"/>
              </a:rPr>
              <a:t>동영상</a:t>
            </a:r>
            <a:r>
              <a:rPr lang="en-US" altLang="ko-KR" sz="4000" dirty="0">
                <a:solidFill>
                  <a:srgbClr val="000000"/>
                </a:solidFill>
                <a:ea typeface="Pretendard SemiBold"/>
              </a:rPr>
              <a:t>/</a:t>
            </a:r>
            <a:r>
              <a:rPr lang="ko-KR" altLang="en-US" sz="4000" dirty="0">
                <a:solidFill>
                  <a:srgbClr val="000000"/>
                </a:solidFill>
                <a:ea typeface="Pretendard SemiBold"/>
              </a:rPr>
              <a:t>이미지 </a:t>
            </a:r>
            <a:endParaRPr lang="en-US" altLang="ko-KR" sz="4000" dirty="0">
              <a:solidFill>
                <a:srgbClr val="000000"/>
              </a:solidFill>
              <a:ea typeface="Pretendard SemiBold"/>
            </a:endParaRPr>
          </a:p>
          <a:p>
            <a:pPr lvl="0">
              <a:lnSpc>
                <a:spcPct val="99600"/>
              </a:lnSpc>
            </a:pPr>
            <a:r>
              <a:rPr lang="ko-KR" altLang="en-US" sz="4000" dirty="0">
                <a:solidFill>
                  <a:srgbClr val="000000"/>
                </a:solidFill>
                <a:ea typeface="Pretendard SemiBold"/>
              </a:rPr>
              <a:t>내보내기</a:t>
            </a:r>
            <a:endParaRPr lang="ko-KR" sz="4000" b="0" i="0" u="none" strike="noStrike" dirty="0">
              <a:solidFill>
                <a:srgbClr val="000000"/>
              </a:solidFill>
              <a:ea typeface="Pretendard SemiBold"/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1567324" y="3591146"/>
            <a:ext cx="2689331" cy="2506478"/>
            <a:chOff x="939378" y="3184234"/>
            <a:chExt cx="2689331" cy="2506478"/>
          </a:xfrm>
        </p:grpSpPr>
        <p:sp>
          <p:nvSpPr>
            <p:cNvPr id="56" name="모서리가 둥근 직사각형 55"/>
            <p:cNvSpPr/>
            <p:nvPr/>
          </p:nvSpPr>
          <p:spPr>
            <a:xfrm>
              <a:off x="1231684" y="3184234"/>
              <a:ext cx="1746043" cy="1735265"/>
            </a:xfrm>
            <a:prstGeom prst="roundRect">
              <a:avLst>
                <a:gd name="adj" fmla="val 50000"/>
              </a:avLst>
            </a:prstGeom>
            <a:solidFill>
              <a:srgbClr val="DEE0EA"/>
            </a:solidFill>
            <a:ln>
              <a:solidFill>
                <a:srgbClr val="DEE0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2" name="그룹 51"/>
            <p:cNvGrpSpPr/>
            <p:nvPr/>
          </p:nvGrpSpPr>
          <p:grpSpPr>
            <a:xfrm>
              <a:off x="939378" y="3590925"/>
              <a:ext cx="2689331" cy="2099787"/>
              <a:chOff x="1181511" y="4606925"/>
              <a:chExt cx="2689331" cy="2099787"/>
            </a:xfrm>
          </p:grpSpPr>
          <p:sp>
            <p:nvSpPr>
              <p:cNvPr id="24" name="모서리가 둥근 직사각형 23"/>
              <p:cNvSpPr/>
              <p:nvPr/>
            </p:nvSpPr>
            <p:spPr>
              <a:xfrm>
                <a:off x="1813442" y="4662012"/>
                <a:ext cx="2057400" cy="2044700"/>
              </a:xfrm>
              <a:prstGeom prst="roundRect">
                <a:avLst>
                  <a:gd name="adj" fmla="val 50000"/>
                </a:avLst>
              </a:prstGeom>
              <a:solidFill>
                <a:srgbClr val="BCC0D6"/>
              </a:solidFill>
              <a:ln>
                <a:solidFill>
                  <a:srgbClr val="BCC0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TextBox 21"/>
              <p:cNvSpPr txBox="1"/>
              <p:nvPr/>
            </p:nvSpPr>
            <p:spPr>
              <a:xfrm>
                <a:off x="1181511" y="4606925"/>
                <a:ext cx="1898444" cy="1854405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lvl="0" algn="r">
                  <a:lnSpc>
                    <a:spcPct val="99600"/>
                  </a:lnSpc>
                </a:pPr>
                <a:r>
                  <a:rPr lang="en-US" altLang="ko-KR" sz="13800" b="0" i="0" u="none" strike="noStrike">
                    <a:solidFill>
                      <a:srgbClr val="002060"/>
                    </a:solidFill>
                    <a:ea typeface="Pretendard SemiBold"/>
                  </a:rPr>
                  <a:t>01</a:t>
                </a:r>
                <a:endParaRPr lang="ko-KR" sz="13800" b="0" i="0" u="none" strike="noStrike">
                  <a:solidFill>
                    <a:srgbClr val="002060"/>
                  </a:solidFill>
                  <a:ea typeface="Pretendard SemiBold"/>
                </a:endParaRPr>
              </a:p>
            </p:txBody>
          </p:sp>
        </p:grpSp>
      </p:grpSp>
      <p:sp>
        <p:nvSpPr>
          <p:cNvPr id="49" name="TextBox 21"/>
          <p:cNvSpPr txBox="1"/>
          <p:nvPr/>
        </p:nvSpPr>
        <p:spPr>
          <a:xfrm>
            <a:off x="10365041" y="3241573"/>
            <a:ext cx="1143001" cy="185440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endParaRPr lang="ko-KR" sz="13800" b="0" i="0" u="none" strike="noStrike">
              <a:solidFill>
                <a:schemeClr val="bg1"/>
              </a:solidFill>
              <a:ea typeface="Pretendard SemiBold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5842410" y="3591146"/>
            <a:ext cx="2689331" cy="2506478"/>
            <a:chOff x="939378" y="3184234"/>
            <a:chExt cx="2689331" cy="2506478"/>
          </a:xfrm>
        </p:grpSpPr>
        <p:sp>
          <p:nvSpPr>
            <p:cNvPr id="74" name="모서리가 둥근 직사각형 73"/>
            <p:cNvSpPr/>
            <p:nvPr/>
          </p:nvSpPr>
          <p:spPr>
            <a:xfrm>
              <a:off x="1231684" y="3184234"/>
              <a:ext cx="1746043" cy="1735265"/>
            </a:xfrm>
            <a:prstGeom prst="roundRect">
              <a:avLst>
                <a:gd name="adj" fmla="val 50000"/>
              </a:avLst>
            </a:prstGeom>
            <a:solidFill>
              <a:srgbClr val="DEE0EA"/>
            </a:solidFill>
            <a:ln>
              <a:solidFill>
                <a:srgbClr val="DEE0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5" name="그룹 74"/>
            <p:cNvGrpSpPr/>
            <p:nvPr/>
          </p:nvGrpSpPr>
          <p:grpSpPr>
            <a:xfrm>
              <a:off x="939378" y="3590925"/>
              <a:ext cx="2689331" cy="2099787"/>
              <a:chOff x="1181511" y="4606925"/>
              <a:chExt cx="2689331" cy="2099787"/>
            </a:xfrm>
          </p:grpSpPr>
          <p:sp>
            <p:nvSpPr>
              <p:cNvPr id="76" name="모서리가 둥근 직사각형 75"/>
              <p:cNvSpPr/>
              <p:nvPr/>
            </p:nvSpPr>
            <p:spPr>
              <a:xfrm>
                <a:off x="1813442" y="4662012"/>
                <a:ext cx="2057400" cy="2044700"/>
              </a:xfrm>
              <a:prstGeom prst="roundRect">
                <a:avLst>
                  <a:gd name="adj" fmla="val 50000"/>
                </a:avLst>
              </a:prstGeom>
              <a:solidFill>
                <a:srgbClr val="BCC0D6"/>
              </a:solidFill>
              <a:ln>
                <a:solidFill>
                  <a:srgbClr val="BCC0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TextBox 21"/>
              <p:cNvSpPr txBox="1"/>
              <p:nvPr/>
            </p:nvSpPr>
            <p:spPr>
              <a:xfrm>
                <a:off x="1181511" y="4606925"/>
                <a:ext cx="1898444" cy="1854405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lvl="0" algn="r">
                  <a:lnSpc>
                    <a:spcPct val="99600"/>
                  </a:lnSpc>
                </a:pPr>
                <a:r>
                  <a:rPr lang="en-US" altLang="ko-KR" sz="13800" b="0" i="0" u="none" strike="noStrike">
                    <a:solidFill>
                      <a:srgbClr val="002060"/>
                    </a:solidFill>
                    <a:ea typeface="Pretendard SemiBold"/>
                  </a:rPr>
                  <a:t>02</a:t>
                </a:r>
                <a:endParaRPr lang="ko-KR" sz="13800" b="0" i="0" u="none" strike="noStrike">
                  <a:solidFill>
                    <a:srgbClr val="002060"/>
                  </a:solidFill>
                  <a:ea typeface="Pretendard SemiBold"/>
                </a:endParaRPr>
              </a:p>
            </p:txBody>
          </p:sp>
        </p:grpSp>
      </p:grpSp>
      <p:grpSp>
        <p:nvGrpSpPr>
          <p:cNvPr id="78" name="그룹 77"/>
          <p:cNvGrpSpPr/>
          <p:nvPr/>
        </p:nvGrpSpPr>
        <p:grpSpPr>
          <a:xfrm>
            <a:off x="9806139" y="3591146"/>
            <a:ext cx="2689331" cy="2506478"/>
            <a:chOff x="939378" y="3184234"/>
            <a:chExt cx="2689331" cy="2506478"/>
          </a:xfrm>
        </p:grpSpPr>
        <p:sp>
          <p:nvSpPr>
            <p:cNvPr id="79" name="모서리가 둥근 직사각형 78"/>
            <p:cNvSpPr/>
            <p:nvPr/>
          </p:nvSpPr>
          <p:spPr>
            <a:xfrm>
              <a:off x="1231684" y="3184234"/>
              <a:ext cx="1746043" cy="1735265"/>
            </a:xfrm>
            <a:prstGeom prst="roundRect">
              <a:avLst>
                <a:gd name="adj" fmla="val 50000"/>
              </a:avLst>
            </a:prstGeom>
            <a:solidFill>
              <a:srgbClr val="DEE0EA"/>
            </a:solidFill>
            <a:ln>
              <a:solidFill>
                <a:srgbClr val="DEE0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/>
            <p:cNvGrpSpPr/>
            <p:nvPr/>
          </p:nvGrpSpPr>
          <p:grpSpPr>
            <a:xfrm>
              <a:off x="939378" y="3590925"/>
              <a:ext cx="2689331" cy="2099787"/>
              <a:chOff x="1181511" y="4606925"/>
              <a:chExt cx="2689331" cy="2099787"/>
            </a:xfrm>
          </p:grpSpPr>
          <p:sp>
            <p:nvSpPr>
              <p:cNvPr id="81" name="모서리가 둥근 직사각형 80"/>
              <p:cNvSpPr/>
              <p:nvPr/>
            </p:nvSpPr>
            <p:spPr>
              <a:xfrm>
                <a:off x="1813442" y="4662012"/>
                <a:ext cx="2057400" cy="2044700"/>
              </a:xfrm>
              <a:prstGeom prst="roundRect">
                <a:avLst>
                  <a:gd name="adj" fmla="val 50000"/>
                </a:avLst>
              </a:prstGeom>
              <a:solidFill>
                <a:srgbClr val="BCC0D6"/>
              </a:solidFill>
              <a:ln>
                <a:solidFill>
                  <a:srgbClr val="BCC0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TextBox 21"/>
              <p:cNvSpPr txBox="1"/>
              <p:nvPr/>
            </p:nvSpPr>
            <p:spPr>
              <a:xfrm>
                <a:off x="1181511" y="4606925"/>
                <a:ext cx="1898444" cy="1854405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lvl="0" algn="r">
                  <a:lnSpc>
                    <a:spcPct val="99600"/>
                  </a:lnSpc>
                </a:pPr>
                <a:r>
                  <a:rPr lang="en-US" altLang="ko-KR" sz="13800" b="0" i="0" u="none" strike="noStrike">
                    <a:solidFill>
                      <a:srgbClr val="002060"/>
                    </a:solidFill>
                    <a:ea typeface="Pretendard SemiBold"/>
                  </a:rPr>
                  <a:t>03</a:t>
                </a:r>
                <a:endParaRPr lang="ko-KR" sz="13800" b="0" i="0" u="none" strike="noStrike">
                  <a:solidFill>
                    <a:srgbClr val="002060"/>
                  </a:solidFill>
                  <a:ea typeface="Pretendard SemiBold"/>
                </a:endParaRPr>
              </a:p>
            </p:txBody>
          </p:sp>
        </p:grpSp>
      </p:grpSp>
      <p:grpSp>
        <p:nvGrpSpPr>
          <p:cNvPr id="83" name="그룹 82"/>
          <p:cNvGrpSpPr/>
          <p:nvPr/>
        </p:nvGrpSpPr>
        <p:grpSpPr>
          <a:xfrm>
            <a:off x="13922269" y="3591146"/>
            <a:ext cx="2689331" cy="2506478"/>
            <a:chOff x="939378" y="3184234"/>
            <a:chExt cx="2689331" cy="2506478"/>
          </a:xfrm>
        </p:grpSpPr>
        <p:sp>
          <p:nvSpPr>
            <p:cNvPr id="84" name="모서리가 둥근 직사각형 83"/>
            <p:cNvSpPr/>
            <p:nvPr/>
          </p:nvSpPr>
          <p:spPr>
            <a:xfrm>
              <a:off x="1231684" y="3184234"/>
              <a:ext cx="1746043" cy="1735265"/>
            </a:xfrm>
            <a:prstGeom prst="roundRect">
              <a:avLst>
                <a:gd name="adj" fmla="val 50000"/>
              </a:avLst>
            </a:prstGeom>
            <a:solidFill>
              <a:srgbClr val="DEE0EA"/>
            </a:solidFill>
            <a:ln>
              <a:solidFill>
                <a:srgbClr val="DEE0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5" name="그룹 84"/>
            <p:cNvGrpSpPr/>
            <p:nvPr/>
          </p:nvGrpSpPr>
          <p:grpSpPr>
            <a:xfrm>
              <a:off x="939378" y="3590925"/>
              <a:ext cx="2689331" cy="2099787"/>
              <a:chOff x="1181511" y="4606925"/>
              <a:chExt cx="2689331" cy="2099787"/>
            </a:xfrm>
          </p:grpSpPr>
          <p:sp>
            <p:nvSpPr>
              <p:cNvPr id="86" name="모서리가 둥근 직사각형 85"/>
              <p:cNvSpPr/>
              <p:nvPr/>
            </p:nvSpPr>
            <p:spPr>
              <a:xfrm>
                <a:off x="1813442" y="4662012"/>
                <a:ext cx="2057400" cy="2044700"/>
              </a:xfrm>
              <a:prstGeom prst="roundRect">
                <a:avLst>
                  <a:gd name="adj" fmla="val 50000"/>
                </a:avLst>
              </a:prstGeom>
              <a:solidFill>
                <a:srgbClr val="BCC0D6"/>
              </a:solidFill>
              <a:ln>
                <a:solidFill>
                  <a:srgbClr val="BCC0D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TextBox 21"/>
              <p:cNvSpPr txBox="1"/>
              <p:nvPr/>
            </p:nvSpPr>
            <p:spPr>
              <a:xfrm>
                <a:off x="1181511" y="4606925"/>
                <a:ext cx="1898444" cy="1854405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lvl="0" algn="r">
                  <a:lnSpc>
                    <a:spcPct val="99600"/>
                  </a:lnSpc>
                </a:pPr>
                <a:r>
                  <a:rPr lang="en-US" altLang="ko-KR" sz="13800" b="0" i="0" u="none" strike="noStrike">
                    <a:solidFill>
                      <a:srgbClr val="002060"/>
                    </a:solidFill>
                    <a:ea typeface="Pretendard SemiBold"/>
                  </a:rPr>
                  <a:t>04</a:t>
                </a:r>
                <a:endParaRPr lang="ko-KR" sz="13800" b="0" i="0" u="none" strike="noStrike">
                  <a:solidFill>
                    <a:srgbClr val="002060"/>
                  </a:solidFill>
                  <a:ea typeface="Pretendard SemiBold"/>
                </a:endParaRPr>
              </a:p>
            </p:txBody>
          </p:sp>
        </p:grpSp>
      </p:grpSp>
      <p:sp>
        <p:nvSpPr>
          <p:cNvPr id="2" name="TextBox 18">
            <a:extLst>
              <a:ext uri="{FF2B5EF4-FFF2-40B4-BE49-F238E27FC236}">
                <a16:creationId xmlns:a16="http://schemas.microsoft.com/office/drawing/2014/main" id="{5F1C0E4F-2F8A-37ED-C294-2FE84B436088}"/>
              </a:ext>
            </a:extLst>
          </p:cNvPr>
          <p:cNvSpPr txBox="1"/>
          <p:nvPr/>
        </p:nvSpPr>
        <p:spPr>
          <a:xfrm>
            <a:off x="533400" y="426332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500" dirty="0">
                <a:solidFill>
                  <a:srgbClr val="000000"/>
                </a:solidFill>
                <a:latin typeface="Pretendard Black"/>
                <a:ea typeface="Pretendard Black"/>
              </a:rPr>
              <a:t>시연 시나리오</a:t>
            </a:r>
            <a:endParaRPr lang="ko-KR" altLang="ko-KR" sz="5500" dirty="0">
              <a:solidFill>
                <a:srgbClr val="000000"/>
              </a:solidFill>
              <a:ea typeface="Pretendard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갈매기형 수장 22"/>
          <p:cNvSpPr/>
          <p:nvPr/>
        </p:nvSpPr>
        <p:spPr>
          <a:xfrm>
            <a:off x="1752600" y="6755843"/>
            <a:ext cx="5837079" cy="2267712"/>
          </a:xfrm>
          <a:prstGeom prst="chevron">
            <a:avLst/>
          </a:prstGeom>
          <a:solidFill>
            <a:srgbClr val="8F96BB"/>
          </a:solidFill>
          <a:ln>
            <a:solidFill>
              <a:srgbClr val="8F9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갈매기형 수장 23"/>
          <p:cNvSpPr/>
          <p:nvPr/>
        </p:nvSpPr>
        <p:spPr>
          <a:xfrm>
            <a:off x="6681083" y="6755843"/>
            <a:ext cx="5912449" cy="2267712"/>
          </a:xfrm>
          <a:prstGeom prst="chevron">
            <a:avLst/>
          </a:prstGeom>
          <a:solidFill>
            <a:srgbClr val="8F96BB"/>
          </a:solidFill>
          <a:ln>
            <a:solidFill>
              <a:srgbClr val="8F9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갈매기형 수장 24"/>
          <p:cNvSpPr/>
          <p:nvPr/>
        </p:nvSpPr>
        <p:spPr>
          <a:xfrm>
            <a:off x="11688921" y="6755843"/>
            <a:ext cx="5837079" cy="2267712"/>
          </a:xfrm>
          <a:prstGeom prst="chevron">
            <a:avLst/>
          </a:prstGeom>
          <a:solidFill>
            <a:srgbClr val="8F96BB"/>
          </a:solidFill>
          <a:ln>
            <a:solidFill>
              <a:srgbClr val="8F9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solidFill>
                  <a:schemeClr val="bg1"/>
                </a:solidFill>
                <a:latin typeface="Pretendard SemiBold" panose="020B0604020202020204" charset="-127"/>
                <a:ea typeface="Pretendard SemiBold" panose="020B0604020202020204" charset="-127"/>
              </a:rPr>
              <a:t>다양한 객체 인식 목록화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1698306" y="1907290"/>
            <a:ext cx="4796913" cy="4724400"/>
            <a:chOff x="2362200" y="5067300"/>
            <a:chExt cx="3810000" cy="3810000"/>
          </a:xfrm>
        </p:grpSpPr>
        <p:sp>
          <p:nvSpPr>
            <p:cNvPr id="26" name="직사각형 25"/>
            <p:cNvSpPr/>
            <p:nvPr/>
          </p:nvSpPr>
          <p:spPr>
            <a:xfrm>
              <a:off x="2362200" y="5067300"/>
              <a:ext cx="3810000" cy="3810000"/>
            </a:xfrm>
            <a:prstGeom prst="rect">
              <a:avLst/>
            </a:prstGeom>
            <a:solidFill>
              <a:srgbClr val="8F96BB"/>
            </a:solidFill>
            <a:ln>
              <a:solidFill>
                <a:srgbClr val="8F96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667000" y="5067300"/>
              <a:ext cx="3505200" cy="3810000"/>
            </a:xfrm>
            <a:prstGeom prst="rect">
              <a:avLst/>
            </a:prstGeom>
            <a:solidFill>
              <a:srgbClr val="F6F6F6"/>
            </a:solidFill>
            <a:ln>
              <a:solidFill>
                <a:srgbClr val="8F96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6644126" y="1900350"/>
            <a:ext cx="4801468" cy="4724400"/>
            <a:chOff x="2362200" y="5067300"/>
            <a:chExt cx="3810000" cy="3810000"/>
          </a:xfrm>
        </p:grpSpPr>
        <p:sp>
          <p:nvSpPr>
            <p:cNvPr id="33" name="직사각형 32"/>
            <p:cNvSpPr/>
            <p:nvPr/>
          </p:nvSpPr>
          <p:spPr>
            <a:xfrm>
              <a:off x="2362200" y="5067300"/>
              <a:ext cx="3810000" cy="3810000"/>
            </a:xfrm>
            <a:prstGeom prst="rect">
              <a:avLst/>
            </a:prstGeom>
            <a:solidFill>
              <a:srgbClr val="8F96BB"/>
            </a:solidFill>
            <a:ln>
              <a:solidFill>
                <a:srgbClr val="8F96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2667000" y="5067300"/>
              <a:ext cx="3505200" cy="3810000"/>
            </a:xfrm>
            <a:prstGeom prst="rect">
              <a:avLst/>
            </a:prstGeom>
            <a:solidFill>
              <a:srgbClr val="F6F6F6"/>
            </a:solidFill>
            <a:ln>
              <a:solidFill>
                <a:srgbClr val="8F96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11594501" y="1900350"/>
            <a:ext cx="4806024" cy="4724400"/>
            <a:chOff x="2362200" y="5067300"/>
            <a:chExt cx="3810000" cy="3810000"/>
          </a:xfrm>
        </p:grpSpPr>
        <p:sp>
          <p:nvSpPr>
            <p:cNvPr id="39" name="직사각형 38"/>
            <p:cNvSpPr/>
            <p:nvPr/>
          </p:nvSpPr>
          <p:spPr>
            <a:xfrm>
              <a:off x="2362200" y="5067300"/>
              <a:ext cx="3810000" cy="3810000"/>
            </a:xfrm>
            <a:prstGeom prst="rect">
              <a:avLst/>
            </a:prstGeom>
            <a:solidFill>
              <a:srgbClr val="8F96BB"/>
            </a:solidFill>
            <a:ln>
              <a:solidFill>
                <a:srgbClr val="8F96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667000" y="5067300"/>
              <a:ext cx="3505200" cy="3810000"/>
            </a:xfrm>
            <a:prstGeom prst="rect">
              <a:avLst/>
            </a:prstGeom>
            <a:solidFill>
              <a:srgbClr val="F6F6F6"/>
            </a:solidFill>
            <a:ln>
              <a:solidFill>
                <a:srgbClr val="8F96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8153400" y="7289534"/>
            <a:ext cx="3210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사용자 얼굴 등록</a:t>
            </a:r>
            <a:br>
              <a:rPr lang="en-US" altLang="ko-KR" sz="3600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</a:br>
            <a:r>
              <a:rPr lang="ko-KR" altLang="en-US" sz="3600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탐지 정확도 강화</a:t>
            </a: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10" y="2593819"/>
            <a:ext cx="3228452" cy="322845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475054" y="2233731"/>
            <a:ext cx="1788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4A527B"/>
                </a:solidFill>
                <a:latin typeface="한국기계연구원_Bold" panose="02000300000000000000" pitchFamily="2" charset="-127"/>
                <a:ea typeface="한국기계연구원_Bold" panose="02000300000000000000" pitchFamily="2" charset="-127"/>
              </a:rPr>
              <a:t>MP4</a:t>
            </a:r>
            <a:endParaRPr lang="ko-KR" altLang="en-US" sz="4000" dirty="0">
              <a:solidFill>
                <a:srgbClr val="4A527B"/>
              </a:solidFill>
              <a:latin typeface="한국기계연구원_Bold" panose="02000300000000000000" pitchFamily="2" charset="-127"/>
              <a:ea typeface="한국기계연구원_Bold" panose="02000300000000000000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892301" y="5623536"/>
            <a:ext cx="1788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4A527B"/>
                </a:solidFill>
                <a:latin typeface="한국기계연구원_Bold" panose="02000300000000000000" pitchFamily="2" charset="-127"/>
                <a:ea typeface="한국기계연구원_Bold" panose="02000300000000000000" pitchFamily="2" charset="-127"/>
              </a:rPr>
              <a:t>MOV</a:t>
            </a:r>
            <a:endParaRPr lang="ko-KR" altLang="en-US" sz="4000" dirty="0">
              <a:solidFill>
                <a:srgbClr val="4A527B"/>
              </a:solidFill>
              <a:latin typeface="한국기계연구원_Bold" panose="02000300000000000000" pitchFamily="2" charset="-127"/>
              <a:ea typeface="한국기계연구원_Bold" panose="02000300000000000000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30060" y="2233731"/>
            <a:ext cx="1788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4A527B"/>
                </a:solidFill>
                <a:latin typeface="한국기계연구원_Bold" panose="02000300000000000000" pitchFamily="2" charset="-127"/>
                <a:ea typeface="한국기계연구원_Bold" panose="02000300000000000000" pitchFamily="2" charset="-127"/>
              </a:rPr>
              <a:t>AVI</a:t>
            </a:r>
            <a:endParaRPr lang="ko-KR" altLang="en-US" sz="4000" dirty="0">
              <a:solidFill>
                <a:srgbClr val="4A527B"/>
              </a:solidFill>
              <a:latin typeface="한국기계연구원_Bold" panose="02000300000000000000" pitchFamily="2" charset="-127"/>
              <a:ea typeface="한국기계연구원_Bold" panose="02000300000000000000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367532" y="5623536"/>
            <a:ext cx="2201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4A527B"/>
                </a:solidFill>
                <a:latin typeface="한국기계연구원_Bold" panose="02000300000000000000" pitchFamily="2" charset="-127"/>
                <a:ea typeface="한국기계연구원_Bold" panose="02000300000000000000" pitchFamily="2" charset="-127"/>
              </a:rPr>
              <a:t>WMV</a:t>
            </a:r>
            <a:endParaRPr lang="ko-KR" altLang="en-US" sz="4000" dirty="0">
              <a:solidFill>
                <a:srgbClr val="4A527B"/>
              </a:solidFill>
              <a:latin typeface="한국기계연구원_Bold" panose="02000300000000000000" pitchFamily="2" charset="-127"/>
              <a:ea typeface="한국기계연구원_Bold" panose="02000300000000000000" pitchFamily="2" charset="-127"/>
            </a:endParaRP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3">
            <a:clrChange>
              <a:clrFrom>
                <a:srgbClr val="E8EDFC"/>
              </a:clrFrom>
              <a:clrTo>
                <a:srgbClr val="E8EDFC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168" y="2487015"/>
            <a:ext cx="3509514" cy="3509514"/>
          </a:xfrm>
          <a:prstGeom prst="rect">
            <a:avLst/>
          </a:prstGeom>
        </p:spPr>
      </p:pic>
      <p:pic>
        <p:nvPicPr>
          <p:cNvPr id="2" name="그림 1" descr="서류 승인">
            <a:extLst>
              <a:ext uri="{FF2B5EF4-FFF2-40B4-BE49-F238E27FC236}">
                <a16:creationId xmlns:a16="http://schemas.microsoft.com/office/drawing/2014/main" id="{A70EB71A-4678-D0D3-6FCF-36BF24C53E8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798852" y="2708682"/>
            <a:ext cx="3121616" cy="31216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1C94FC-EC11-F9E2-89F8-0B6846E8ECAD}"/>
              </a:ext>
            </a:extLst>
          </p:cNvPr>
          <p:cNvSpPr txBox="1"/>
          <p:nvPr/>
        </p:nvSpPr>
        <p:spPr>
          <a:xfrm>
            <a:off x="2935308" y="7566532"/>
            <a:ext cx="3913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정확도 향상</a:t>
            </a:r>
            <a:endParaRPr lang="en-US" altLang="ko-KR" sz="3600" dirty="0">
              <a:solidFill>
                <a:schemeClr val="bg1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99069035-1411-955B-950B-F6E1F593FDB7}"/>
              </a:ext>
            </a:extLst>
          </p:cNvPr>
          <p:cNvSpPr txBox="1"/>
          <p:nvPr/>
        </p:nvSpPr>
        <p:spPr>
          <a:xfrm>
            <a:off x="533400" y="426332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500" dirty="0">
                <a:solidFill>
                  <a:srgbClr val="000000"/>
                </a:solidFill>
                <a:latin typeface="Pretendard Black"/>
                <a:ea typeface="Pretendard Black"/>
              </a:rPr>
              <a:t>향후 과제</a:t>
            </a:r>
            <a:endParaRPr lang="ko-KR" altLang="ko-KR" sz="5500" dirty="0">
              <a:solidFill>
                <a:srgbClr val="000000"/>
              </a:solidFill>
              <a:ea typeface="Pretendard Black"/>
            </a:endParaRPr>
          </a:p>
        </p:txBody>
      </p:sp>
    </p:spTree>
    <p:extLst>
      <p:ext uri="{BB962C8B-B14F-4D97-AF65-F5344CB8AC3E}">
        <p14:creationId xmlns:p14="http://schemas.microsoft.com/office/powerpoint/2010/main" val="2854447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8B61E-10A8-5D57-5194-23E6483F6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FEC7D1-DB4F-0014-7229-AC9D493C1C46}"/>
              </a:ext>
            </a:extLst>
          </p:cNvPr>
          <p:cNvSpPr txBox="1"/>
          <p:nvPr/>
        </p:nvSpPr>
        <p:spPr>
          <a:xfrm>
            <a:off x="838200" y="1714500"/>
            <a:ext cx="16611600" cy="828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745"/>
              </a:lnSpc>
            </a:pPr>
            <a:r>
              <a:rPr lang="en-US" altLang="ko-KR" sz="3200" b="1" dirty="0" err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관련</a:t>
            </a:r>
            <a:r>
              <a:rPr lang="en-US" altLang="ko-KR" sz="3200" b="1" dirty="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altLang="ko-KR" sz="3200" b="1" dirty="0" err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논문</a:t>
            </a:r>
            <a:endParaRPr lang="en-US" altLang="ko-KR" sz="3200" b="1" dirty="0">
              <a:solidFill>
                <a:srgbClr val="00000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marL="512878" lvl="1" indent="-256439">
              <a:lnSpc>
                <a:spcPts val="3325"/>
              </a:lnSpc>
              <a:buFont typeface="Arial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권주연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반태원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. (2025). </a:t>
            </a:r>
            <a:r>
              <a:rPr lang="ko-KR" altLang="en-US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학습 시간 단축과 보안 강화를 위한 새로운 얼굴 인식 방식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. </a:t>
            </a:r>
            <a:r>
              <a:rPr lang="ko-KR" altLang="en-US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한국정보통신학회논문지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, 29(4), 526-532. 10.6109/jkiice.2025.29.4.526</a:t>
            </a:r>
          </a:p>
          <a:p>
            <a:pPr marL="256439" lvl="1">
              <a:lnSpc>
                <a:spcPts val="3325"/>
              </a:lnSpc>
            </a:pP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(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  <a:hlinkClick r:id="rId2"/>
              </a:rPr>
              <a:t>https://www.dbpia.co.kr/journal/articleDetail?nodeId=NODE12149525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)</a:t>
            </a:r>
          </a:p>
          <a:p>
            <a:pPr marL="256439" lvl="1">
              <a:lnSpc>
                <a:spcPts val="3325"/>
              </a:lnSpc>
            </a:pPr>
            <a:endParaRPr lang="en-US" altLang="ko-KR" sz="2800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512878" lvl="1" indent="-256439">
              <a:lnSpc>
                <a:spcPts val="3325"/>
              </a:lnSpc>
              <a:buFont typeface="Arial"/>
              <a:buChar char="•"/>
            </a:pP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KISTI, 「</a:t>
            </a:r>
            <a:r>
              <a:rPr lang="en-US" altLang="ko-KR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실시간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특정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객체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모자이크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처리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시스템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」, </a:t>
            </a:r>
            <a:r>
              <a:rPr lang="en-US" altLang="ko-KR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ScienceON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(NPAP13263738)</a:t>
            </a:r>
          </a:p>
          <a:p>
            <a:pPr marL="256439" lvl="1">
              <a:lnSpc>
                <a:spcPts val="3325"/>
              </a:lnSpc>
            </a:pP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800" u="sng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  <a:hlinkClick r:id="rId3" tooltip="https://scienceon.kisti.re.kr/srch/selectPORSrchArticle.do?cn=NPAP13263738"/>
              </a:rPr>
              <a:t>(https://scienceon.kisti.re.kr/srch/selectPORSrchArticle.do?cn=NPAP13263738</a:t>
            </a:r>
            <a:r>
              <a:rPr lang="en-US" altLang="ko-KR" sz="2800" u="sng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)</a:t>
            </a:r>
          </a:p>
          <a:p>
            <a:pPr marL="256439" lvl="1">
              <a:lnSpc>
                <a:spcPts val="3325"/>
              </a:lnSpc>
            </a:pPr>
            <a:endParaRPr lang="en-US" altLang="ko-KR" sz="2800" u="sng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256439" lvl="1">
              <a:lnSpc>
                <a:spcPts val="3325"/>
              </a:lnSpc>
            </a:pPr>
            <a:endParaRPr lang="en-US" altLang="ko-KR" sz="2800" u="sng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745"/>
              </a:lnSpc>
            </a:pPr>
            <a:endParaRPr lang="en-US" altLang="ko-KR" sz="3200" b="1" dirty="0">
              <a:solidFill>
                <a:srgbClr val="00000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l">
              <a:lnSpc>
                <a:spcPts val="3745"/>
              </a:lnSpc>
            </a:pPr>
            <a:r>
              <a:rPr lang="en-US" altLang="ko-KR" sz="3200" b="1" dirty="0" err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배경</a:t>
            </a:r>
            <a:r>
              <a:rPr lang="en-US" altLang="ko-KR" sz="3200" b="1" dirty="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altLang="ko-KR" sz="3200" b="1" dirty="0" err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사례</a:t>
            </a:r>
            <a:endParaRPr lang="en-US" altLang="ko-KR" sz="3200" b="1" dirty="0">
              <a:solidFill>
                <a:srgbClr val="00000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marL="512878" lvl="1" indent="-256439">
              <a:lnSpc>
                <a:spcPts val="3325"/>
              </a:lnSpc>
              <a:buFont typeface="Arial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한국전파진흥협회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기타자료실 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「 2024 </a:t>
            </a:r>
            <a:r>
              <a:rPr lang="ko-KR" altLang="en-US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디지털크리에이터미디어산업</a:t>
            </a:r>
            <a:r>
              <a:rPr lang="ko-KR" altLang="en-US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실태조사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」</a:t>
            </a:r>
          </a:p>
          <a:p>
            <a:pPr marL="256439" lvl="1">
              <a:lnSpc>
                <a:spcPts val="3325"/>
              </a:lnSpc>
            </a:pP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(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  <a:hlinkClick r:id="rId4"/>
              </a:rPr>
              <a:t>https://www.rapa.or.kr/ft/rb/bd03/view.do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)</a:t>
            </a:r>
          </a:p>
          <a:p>
            <a:pPr marL="512878" lvl="1" indent="-256439">
              <a:lnSpc>
                <a:spcPts val="3325"/>
              </a:lnSpc>
              <a:buFont typeface="Arial"/>
              <a:buChar char="•"/>
            </a:pPr>
            <a:endParaRPr lang="en-US" altLang="ko-KR" sz="2800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512878" lvl="1" indent="-256439">
              <a:lnSpc>
                <a:spcPts val="3325"/>
              </a:lnSpc>
              <a:buFont typeface="Arial"/>
              <a:buChar char="•"/>
            </a:pPr>
            <a:r>
              <a:rPr lang="ko-KR" altLang="en-US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이투데이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, 「 </a:t>
            </a:r>
            <a:r>
              <a:rPr lang="ko-KR" altLang="en-US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유튜브에 내 얼굴이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?... </a:t>
            </a:r>
            <a:r>
              <a:rPr lang="ko-KR" altLang="en-US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동의 없는 영상 촬영</a:t>
            </a:r>
            <a:r>
              <a:rPr lang="en-US" altLang="ko-KR" sz="2800" dirty="0"/>
              <a:t>·</a:t>
            </a:r>
            <a:r>
              <a:rPr lang="ko-KR" altLang="en-US" sz="2800" dirty="0"/>
              <a:t>게시</a:t>
            </a:r>
            <a:r>
              <a:rPr lang="en-US" altLang="ko-KR" sz="2800" dirty="0"/>
              <a:t>, </a:t>
            </a:r>
            <a:r>
              <a:rPr lang="ko-KR" altLang="en-US" sz="2800" dirty="0"/>
              <a:t>삭제 요구할 수 있을까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」 ,  2025-11-08</a:t>
            </a:r>
            <a:endParaRPr lang="ko-KR" altLang="en-US" sz="2800" dirty="0"/>
          </a:p>
          <a:p>
            <a:pPr marL="256439" lvl="1">
              <a:lnSpc>
                <a:spcPts val="3325"/>
              </a:lnSpc>
            </a:pP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(https://www.etoday.co.kr/news/view/2523281)</a:t>
            </a:r>
          </a:p>
          <a:p>
            <a:pPr marL="256439" lvl="1">
              <a:lnSpc>
                <a:spcPts val="3325"/>
              </a:lnSpc>
            </a:pPr>
            <a:endParaRPr lang="en-US" altLang="ko-KR" sz="2800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512878" lvl="1" indent="-256439">
              <a:lnSpc>
                <a:spcPts val="3325"/>
              </a:lnSpc>
              <a:buFont typeface="Arial"/>
              <a:buChar char="•"/>
            </a:pPr>
            <a:r>
              <a:rPr lang="ko-KR" altLang="en-US" sz="2800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중부매일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, 「 </a:t>
            </a:r>
            <a:r>
              <a:rPr lang="ko-KR" altLang="en-US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무분별한 유튜브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사생활 침해 심각하다</a:t>
            </a: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」, 2020-01-07</a:t>
            </a:r>
            <a:endParaRPr lang="ko-KR" altLang="en-US" sz="2800" dirty="0"/>
          </a:p>
          <a:p>
            <a:pPr marL="256439" lvl="1">
              <a:lnSpc>
                <a:spcPts val="3325"/>
              </a:lnSpc>
            </a:pPr>
            <a:r>
              <a:rPr lang="en-US" altLang="ko-KR" sz="28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(https://www.jbnews.com/news/articleView.html?idxno=1274388)</a:t>
            </a: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E2CF53F0-3FBF-CC55-2F28-F50AAC44EF0D}"/>
              </a:ext>
            </a:extLst>
          </p:cNvPr>
          <p:cNvSpPr txBox="1"/>
          <p:nvPr/>
        </p:nvSpPr>
        <p:spPr>
          <a:xfrm>
            <a:off x="533400" y="426332"/>
            <a:ext cx="9518323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500" dirty="0">
                <a:solidFill>
                  <a:srgbClr val="000000"/>
                </a:solidFill>
                <a:latin typeface="Pretendard Black"/>
                <a:ea typeface="Pretendard Black"/>
              </a:rPr>
              <a:t>참고 문헌</a:t>
            </a:r>
            <a:endParaRPr lang="ko-KR" altLang="ko-KR" sz="5500" dirty="0">
              <a:solidFill>
                <a:srgbClr val="000000"/>
              </a:solidFill>
              <a:ea typeface="Pretendard Black"/>
            </a:endParaRPr>
          </a:p>
        </p:txBody>
      </p:sp>
    </p:spTree>
    <p:extLst>
      <p:ext uri="{BB962C8B-B14F-4D97-AF65-F5344CB8AC3E}">
        <p14:creationId xmlns:p14="http://schemas.microsoft.com/office/powerpoint/2010/main" val="233241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0900" y="4394200"/>
            <a:ext cx="64389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9000" b="0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Ｑ＆Ａ</a:t>
            </a:r>
            <a:endParaRPr lang="en-US" sz="9000" b="0" i="0" u="none" strike="noStrike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B545C-0236-DBB7-B918-05FA67AF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48B9F1-078E-C05C-50A9-83FCD7D1F40C}"/>
              </a:ext>
            </a:extLst>
          </p:cNvPr>
          <p:cNvSpPr txBox="1"/>
          <p:nvPr/>
        </p:nvSpPr>
        <p:spPr>
          <a:xfrm>
            <a:off x="5930900" y="4394200"/>
            <a:ext cx="64389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9000" b="0" i="0" u="none" strike="noStrike" dirty="0">
                <a:solidFill>
                  <a:srgbClr val="000000"/>
                </a:solidFill>
                <a:latin typeface="Pretendard Black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43859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2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1511300"/>
            <a:ext cx="2946400" cy="101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973300" y="8204200"/>
            <a:ext cx="18923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00" b="0" i="0" u="none" strike="noStrike">
                <a:solidFill>
                  <a:srgbClr val="FFFFFF"/>
                </a:solidFill>
                <a:latin typeface="Pretendard SemiBold"/>
              </a:rPr>
              <a:t>BlurGuard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73300" y="8737600"/>
            <a:ext cx="42037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팀장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| 2324017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김하민</a:t>
            </a:r>
          </a:p>
          <a:p>
            <a:pPr lvl="0" algn="l">
              <a:lnSpc>
                <a:spcPct val="1244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팀원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| 2324047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이소빈</a:t>
            </a:r>
          </a:p>
          <a:p>
            <a:pPr lvl="0" algn="l">
              <a:lnSpc>
                <a:spcPct val="1244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팀원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| 2124073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최정환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4762500"/>
            <a:ext cx="119380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500" b="0" i="0" u="none" strike="noStrike" dirty="0">
                <a:solidFill>
                  <a:srgbClr val="F6F6F6"/>
                </a:solidFill>
                <a:latin typeface="Pretendard Black"/>
              </a:rPr>
              <a:t>AI </a:t>
            </a:r>
            <a:r>
              <a:rPr lang="ko-KR" sz="5500" b="0" i="0" u="none" strike="noStrike" dirty="0">
                <a:solidFill>
                  <a:srgbClr val="F6F6F6"/>
                </a:solidFill>
                <a:ea typeface="Pretendard Black"/>
              </a:rPr>
              <a:t>기반</a:t>
            </a:r>
            <a:r>
              <a:rPr lang="en-US" sz="5500" b="0" i="0" u="none" strike="noStrike" dirty="0">
                <a:solidFill>
                  <a:srgbClr val="F6F6F6"/>
                </a:solidFill>
                <a:latin typeface="Pretendard Black"/>
              </a:rPr>
              <a:t> </a:t>
            </a:r>
            <a:r>
              <a:rPr lang="ko-KR" sz="5500" b="0" i="0" u="none" strike="noStrike" dirty="0">
                <a:solidFill>
                  <a:srgbClr val="F6F6F6"/>
                </a:solidFill>
                <a:ea typeface="Pretendard Black"/>
              </a:rPr>
              <a:t>영상</a:t>
            </a:r>
            <a:r>
              <a:rPr lang="en-US" sz="5500" b="0" i="0" u="none" strike="noStrike" dirty="0">
                <a:solidFill>
                  <a:srgbClr val="F6F6F6"/>
                </a:solidFill>
                <a:latin typeface="Pretendard Black"/>
              </a:rPr>
              <a:t> </a:t>
            </a:r>
            <a:r>
              <a:rPr lang="ko-KR" sz="5500" b="0" i="0" u="none" strike="noStrike" dirty="0">
                <a:solidFill>
                  <a:srgbClr val="F6F6F6"/>
                </a:solidFill>
                <a:ea typeface="Pretendard Black"/>
              </a:rPr>
              <a:t>프라이버시</a:t>
            </a:r>
            <a:r>
              <a:rPr lang="en-US" sz="5500" b="0" i="0" u="none" strike="noStrike" dirty="0">
                <a:solidFill>
                  <a:srgbClr val="F6F6F6"/>
                </a:solidFill>
                <a:latin typeface="Pretendard Black"/>
              </a:rPr>
              <a:t> </a:t>
            </a:r>
            <a:r>
              <a:rPr lang="ko-KR" sz="5500" b="0" i="0" u="none" strike="noStrike" dirty="0">
                <a:solidFill>
                  <a:srgbClr val="F6F6F6"/>
                </a:solidFill>
                <a:ea typeface="Pretendard Black"/>
              </a:rPr>
              <a:t>모자이</a:t>
            </a:r>
            <a:r>
              <a:rPr lang="ko-KR" altLang="en-US" sz="5500" b="0" i="0" u="none" strike="noStrike" dirty="0">
                <a:solidFill>
                  <a:srgbClr val="F6F6F6"/>
                </a:solidFill>
                <a:ea typeface="Pretendard Black"/>
              </a:rPr>
              <a:t>크 웹 </a:t>
            </a:r>
            <a:r>
              <a:rPr lang="ko-KR" sz="5500" b="0" i="0" u="none" strike="noStrike" dirty="0">
                <a:solidFill>
                  <a:srgbClr val="F6F6F6"/>
                </a:solidFill>
                <a:ea typeface="Pretendard Black"/>
              </a:rPr>
              <a:t>서비스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8400" y="3263900"/>
            <a:ext cx="4470400" cy="171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9600" b="0" i="0" u="none" strike="noStrike" err="1">
                <a:solidFill>
                  <a:srgbClr val="F6F6F6"/>
                </a:solidFill>
                <a:latin typeface="Pretendard Black"/>
              </a:rPr>
              <a:t>Mozik</a:t>
            </a:r>
            <a:r>
              <a:rPr lang="en-US" sz="9600" b="0" i="0" u="none" strike="noStrike">
                <a:solidFill>
                  <a:srgbClr val="F6F6F6"/>
                </a:solidFill>
                <a:latin typeface="Pretendard Black"/>
              </a:rPr>
              <a:t>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8400" y="1028700"/>
            <a:ext cx="3568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Regular"/>
              </a:rPr>
              <a:t>2025</a:t>
            </a:r>
            <a:r>
              <a:rPr lang="ko-KR" sz="2000" b="0" i="0" u="none" strike="noStrike">
                <a:solidFill>
                  <a:srgbClr val="FFFFFF"/>
                </a:solidFill>
                <a:ea typeface="Pretendard Regular"/>
              </a:rPr>
              <a:t>년</a:t>
            </a:r>
            <a:r>
              <a:rPr lang="en-US" sz="2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Pretendard Regular"/>
              </a:rPr>
              <a:t>추계</a:t>
            </a:r>
            <a:r>
              <a:rPr lang="en-US" sz="2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Pretendard Regular"/>
              </a:rPr>
              <a:t>졸업작품발표회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8600" y="9652000"/>
            <a:ext cx="4203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sz="2400" b="1" i="0" u="none" strike="noStrike">
                <a:solidFill>
                  <a:srgbClr val="FFFFFF"/>
                </a:solidFill>
                <a:ea typeface="Pretendard Regular"/>
              </a:rPr>
              <a:t>지도교수</a:t>
            </a:r>
            <a:r>
              <a:rPr lang="en-US" sz="2400" b="1" i="0" u="none" strike="noStrike">
                <a:solidFill>
                  <a:srgbClr val="FFFFFF"/>
                </a:solidFill>
                <a:latin typeface="Pretendard Regular"/>
              </a:rPr>
              <a:t> : </a:t>
            </a:r>
            <a:r>
              <a:rPr lang="ko-KR" sz="2400" b="1" i="0" u="none" strike="noStrike">
                <a:solidFill>
                  <a:srgbClr val="FFFFFF"/>
                </a:solidFill>
                <a:ea typeface="Pretendard Regular"/>
              </a:rPr>
              <a:t>민준식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838200" y="3187700"/>
            <a:ext cx="1371600" cy="1371600"/>
            <a:chOff x="5124450" y="4076700"/>
            <a:chExt cx="3429000" cy="3429000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1" t="6907" r="5158" b="5008"/>
            <a:stretch/>
          </p:blipFill>
          <p:spPr>
            <a:xfrm>
              <a:off x="5124450" y="4076700"/>
              <a:ext cx="3429000" cy="3429000"/>
            </a:xfrm>
            <a:prstGeom prst="roundRect">
              <a:avLst/>
            </a:prstGeom>
          </p:spPr>
        </p:pic>
        <p:sp>
          <p:nvSpPr>
            <p:cNvPr id="5" name="모서리가 둥근 직사각형 4"/>
            <p:cNvSpPr/>
            <p:nvPr/>
          </p:nvSpPr>
          <p:spPr>
            <a:xfrm>
              <a:off x="5143501" y="4098924"/>
              <a:ext cx="3409949" cy="3406776"/>
            </a:xfrm>
            <a:prstGeom prst="roundRect">
              <a:avLst/>
            </a:prstGeom>
            <a:noFill/>
            <a:ln w="76200">
              <a:solidFill>
                <a:srgbClr val="4A52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4566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3790</TotalTime>
  <Words>685</Words>
  <Application>Microsoft Office PowerPoint</Application>
  <PresentationFormat>사용자 지정</PresentationFormat>
  <Paragraphs>184</Paragraphs>
  <Slides>20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3" baseType="lpstr">
      <vt:lpstr>Arial</vt:lpstr>
      <vt:lpstr>맑은 고딕</vt:lpstr>
      <vt:lpstr>한국기계연구원_Bold</vt:lpstr>
      <vt:lpstr>Pretendard Regular</vt:lpstr>
      <vt:lpstr>HY견고딕</vt:lpstr>
      <vt:lpstr>Pretendard SemiBold</vt:lpstr>
      <vt:lpstr>TDTD순고딕 Bold</vt:lpstr>
      <vt:lpstr>Pretendard Bold</vt:lpstr>
      <vt:lpstr>Pretendard Black</vt:lpstr>
      <vt:lpstr>Calibri</vt:lpstr>
      <vt:lpstr>TDTD순고딕</vt:lpstr>
      <vt:lpstr>Pretendard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이소빈</dc:creator>
  <cp:lastModifiedBy>소빈 이</cp:lastModifiedBy>
  <cp:revision>199</cp:revision>
  <dcterms:created xsi:type="dcterms:W3CDTF">2006-08-16T00:00:00Z</dcterms:created>
  <dcterms:modified xsi:type="dcterms:W3CDTF">2025-12-09T07:52:34Z</dcterms:modified>
</cp:coreProperties>
</file>